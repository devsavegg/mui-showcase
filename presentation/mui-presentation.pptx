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6526952"/>
      </p:ext>
    </p:extLst>
  </p:cSld>
  <p:clrMap bg1="lt1" tx1="dk1" bg2="lt2" tx2="dk2" accent1="accent1" accent2="accent2" accent3="accent3" accent4="accent4" accent5="accent5" accent6="accent6" hlink="hlink" folHlink="folHlink"/>
  <p:notes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the topic.
Today we're talking about Material UI — usually shortened to MUI. It's one of the most widely adopted React component libraries in the world: 90,000+ GitHub stars and several million weekly downloads.
Over the next 10 minutes I'll cover: the pain that existed before component libraries, what MUI actually is, why teams reach for it, where it shines, the trade-offs, and a code comparison so the difference is concrete.
Quick housekeeping: hold questions to the end — there's a Q&amp;A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tools like MUI, every React app re-solved the same three problems from scratch.
1) CSS Spaghetti — every team rolls its own button, modal, dropdown. Specificity wars, conflicting class names, dead styles nobody dares delete. The styling layer ends up being the most fragile part of the codebase.
2) Cross-Browser Chaos — a button that looks crisp in Chrome can be 2px off in Safari and broken in Firefox. You end up writing vendor prefixes, polyfills, and one-off hacks you never wanted to think about.
3) Accessibility Nightmares — getting ARIA right on a custom dropdown, modal, or menu — focus traps, keyboard nav, role attributes, screen-reader behaviour — is genuinely hard. Most teams ship inaccessible UI because doing it correctly is so expensive.
MUI exists because every React team was solving these three problems at the same time, badly. The library is essentially the consolidated answer.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MUI is an open-source React component library based on Google's Material Design specification. It started in 2014 — about a year after React itself — and has become the de facto standard React component library.
When you install it, you're getting a massive catalog: buttons, forms, tables, dialogs, drawers, autocomplete, date pickers, data grids, charts. Each one is fully implemented, accessible, and themeable.
Two things to emphasize: first, these aren't just styled HTML — they're real components with internal state, keyboard handling, and ARIA. Second, it's not only primitives. MUI X adds advanced data grids, charts, and pickers, so the same library scales from a marketing button to a full analytics dashboard.
It's TypeScript-first, customisable via the sx prop or the theme, and works with any React framework — Vite, Next.js, Remix.</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had to summarise MUI's value proposition in three words, these are them.
Velocity — the most obvious win. You drop in a fully-featured DataGrid or Autocomplete in five minutes instead of building one over five sprints. For startups and internal tooling, that compound speed advantage is enormous.
Consistency — the entire app inherits a coherent design language out of the box. Spacing, typography, colour, motion, focus states — everything follows the same theme. New devs don't argue about button heights.
Reliability — MUI is downloaded ~5 million times a week. Every edge case you'll hit has been hit before, filed, and fixed. You're not debugging a hand-rolled tooltip's z-index issue at 2am — that work has already been done.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MUI shines in environments where functionality and standard UI patterns matter more than a radically unique brand identity.
Admin dashboards — the canonical fit. Data tables, charts, filters, drawers, dialogs. MUI X DataGrid alone justifies the dependency for many teams.
Enterprise SaaS — B2B applications with complex forms, multi-step workflows, lots of data entry. The component density of MUI is exactly what these apps need.
Internal tools — anything user-facing inside a company where shipping speed beats pixel-perfect brand alignment. Operations dashboards, content management, support tooling, ETL configurators.
The pattern: when users come to your app to *get work done*, not to be wowed by visual design, MUI is almost always the right call.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MUI to popular options like Tailwind CSS, Bootstrap, or Chakra, three things stand out.
1) Pre-built Components — this is the key contrast with Tailwind. Tailwind gives you utility classes; you still build the component. With MUI, the component already exists — Autocomplete, DataGrid, DatePicker — handling state, keyboard nav, and edge cases. Different layer of abstraction.
2) Powerful Theming API — one theme object controls colors, spacing, typography, breakpoints, shadows, motion. Change the primary color and the entire app updates. Plug in dark mode in two lines. No global CSS rewrite required.
3) Out-of-the-box a11y — every component is built to WAI-ARIA spec. Focus management in dialogs, keyboard nav in menus, proper roles on toggles. You don't ship inaccessible UI by accident — accessibility is the default, not an afterthought.
Bonus: it's TypeScript-first, with strong types end-to-end.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Nothing's free. Three honest trade-offs:
1) Bundle Size — MUI plus Emotion plus icons can add 100–200kb gzipped before you write a single line. For an admin dashboard that's invisible. For a marketing landing page where every kilobyte counts, it's significant. Tree-shaking helps but doesn't fully fix it.
2) The 'Google' Look — out of the box, MUI looks like a Google product. That's intentional — Material Design — but it means every default-themed MUI app feels familiar in a way that can read as generic. You can fully retheme, but the defaults are recognisable.
3) Customization Overhead — the big one. Once you go off the Material happy path, fighting MUI to look completely un-Material can be harder than just writing CSS from scratch. The styling system is powerful but opinionated. Deep customisation means learning the theme API, the sx prop, styled overrides, slot props — a real learning curve.
Be honest before adopting: are you happy with the Material aesthetic, or are you going to fight it for 18 months?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side of the trade-off slide: where MUI is genuinely the wrong choice.
Heavily-animated, entirely bespoke marketing sites — think Apple-style product pages, Stripe's homepage, an agency portfolio. These sites trade on visual differentiation and unique motion. MUI's component model and Material design language actively get in the way.
For that work you want: Tailwind for utility-first styling, Framer Motion or GSAP for animation, and headless component libraries like Radix UI or React Aria when you need accessibility primitives without visual opinion.
The rule of thumb: if your design language is the product, skip MUI. If your design language is a means to an end, MUI is excellent.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comparison. The button on the left is the kind of thing you'd write yourself: solid colour, hover state, focus ring, rounded corners, and the right padding for a Material-y look.
It's about thirty lines once you account for the CSS, the markup, and ensuring focus-visible behaves correctly. And there's still no loading state, no disabled style, no ripple, no icon slot, and no theme integration. To match what MUI gives you, multiply this by 5–10.
On the right: one import, one component. variant="contained" picks the filled style. color="primary" pulls from the theme — change the theme later and this button updates with no edits. It's keyboard-accessible, screen-reader friendly, has a ripple effect, and supports loading/icon/disabled states out of the box.
This is the value proposition in a nutshell — same outcome, an order of magnitude less code, with accessibility and theming for free.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here and walk through the demo.
Suggested tour: open the landing page, point out the navbar with the dark-mode toggle, scroll through the feature cards and the FAQ accordion, then jump to the sign-in page to show the form components and the loading state on submit. Land on the dashboard to show the drawer, table, tabs, slider, and the dialog with the skeleton loading state.
If anything misbehaves live, fall back to the screenshots — don't burn time debugging on stage.
URL is preset on this slide; click anywhere on the headline or the URL line to launch it from Presenter View.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it up. Likely questions to be ready for:
• 'Should I use MUI or Tailwind?' — Different layers. Tailwind is utility CSS; MUI is components. They can even coexist, though most teams pick one.
• 'How does dark mode work?' — One theme object with mode: 'dark'. The whole component tree updates automatically.
• 'Is it production-ready for big apps?' — Yes. Used by Netflix, Spotify, NASA, Amazon, Unity. The MUI X DataGrid is in heavy enterprise use.
• 'What's the licensing story?' — Core MUI is MIT. MUI X has a free community tier and a paid Pro/Premium tier (advanced data grid, charts, scheduler). Worth knowing for commercial products.
• 'Can I do server components?' — v5 is mostly client. v6 and ongoing work improve RSC support. Check current docs.
Close: thank the professor, mention the demo app is on GitHub if relevant.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Acknowledge the team and thank the audience one more time. Offer to share contact info or the GitHub repo if anyone wants to dig into the demo source.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your-demo.up.railway.app"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mui-showcase-production.up.railway.app/"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685800" y="2560320"/>
            <a:ext cx="457200" cy="54864"/>
          </a:xfrm>
          <a:prstGeom prst="rect">
            <a:avLst/>
          </a:prstGeom>
          <a:solidFill>
            <a:srgbClr val="007FFF"/>
          </a:solidFill>
          <a:ln w="12700">
            <a:solidFill>
              <a:srgbClr val="007FFF"/>
            </a:solidFill>
            <a:prstDash val="solid"/>
          </a:ln>
        </p:spPr>
        <p:txBody>
          <a:bodyPr/>
          <a:lstStyle/>
          <a:p>
            <a:endParaRPr lang="th-TH"/>
          </a:p>
        </p:txBody>
      </p:sp>
      <p:sp>
        <p:nvSpPr>
          <p:cNvPr id="3" name="Text 1"/>
          <p:cNvSpPr/>
          <p:nvPr/>
        </p:nvSpPr>
        <p:spPr>
          <a:xfrm>
            <a:off x="685800" y="2697480"/>
            <a:ext cx="10820095" cy="777240"/>
          </a:xfrm>
          <a:prstGeom prst="rect">
            <a:avLst/>
          </a:prstGeom>
          <a:noFill/>
          <a:ln/>
        </p:spPr>
        <p:txBody>
          <a:bodyPr wrap="square" rtlCol="0" anchor="ctr"/>
          <a:lstStyle/>
          <a:p>
            <a:pPr marL="0" indent="0">
              <a:buNone/>
            </a:pPr>
            <a:r>
              <a:rPr lang="en-US" sz="4000" dirty="0">
                <a:solidFill>
                  <a:srgbClr val="6B7280"/>
                </a:solidFill>
                <a:latin typeface="Segoe UI" pitchFamily="34" charset="0"/>
                <a:ea typeface="Segoe UI" pitchFamily="34" charset="-122"/>
                <a:cs typeface="Segoe UI" pitchFamily="34" charset="-120"/>
              </a:rPr>
              <a:t>Building with</a:t>
            </a:r>
            <a:endParaRPr lang="en-US" sz="4000" dirty="0"/>
          </a:p>
        </p:txBody>
      </p:sp>
      <p:sp>
        <p:nvSpPr>
          <p:cNvPr id="4" name="Text 2"/>
          <p:cNvSpPr/>
          <p:nvPr/>
        </p:nvSpPr>
        <p:spPr>
          <a:xfrm>
            <a:off x="685800" y="3383280"/>
            <a:ext cx="10820095" cy="1188720"/>
          </a:xfrm>
          <a:prstGeom prst="rect">
            <a:avLst/>
          </a:prstGeom>
          <a:noFill/>
          <a:ln/>
        </p:spPr>
        <p:txBody>
          <a:bodyPr wrap="square" rtlCol="0" anchor="ctr"/>
          <a:lstStyle/>
          <a:p>
            <a:pPr marL="0" indent="0">
              <a:buNone/>
            </a:pPr>
            <a:r>
              <a:rPr lang="en-US" sz="6400" b="1" dirty="0">
                <a:solidFill>
                  <a:srgbClr val="0A0A0A"/>
                </a:solidFill>
                <a:latin typeface="Segoe UI" pitchFamily="34" charset="0"/>
                <a:ea typeface="Segoe UI" pitchFamily="34" charset="-122"/>
                <a:cs typeface="Segoe UI" pitchFamily="34" charset="-120"/>
              </a:rPr>
              <a:t>Material UI (MUI)</a:t>
            </a:r>
            <a:endParaRPr lang="en-US" sz="6400" dirty="0"/>
          </a:p>
        </p:txBody>
      </p:sp>
      <p:sp>
        <p:nvSpPr>
          <p:cNvPr id="5" name="Text 3"/>
          <p:cNvSpPr/>
          <p:nvPr/>
        </p:nvSpPr>
        <p:spPr>
          <a:xfrm>
            <a:off x="685800" y="4572000"/>
            <a:ext cx="10820095" cy="457200"/>
          </a:xfrm>
          <a:prstGeom prst="rect">
            <a:avLst/>
          </a:prstGeom>
          <a:noFill/>
          <a:ln/>
        </p:spPr>
        <p:txBody>
          <a:bodyPr wrap="square" rtlCol="0" anchor="ctr"/>
          <a:lstStyle/>
          <a:p>
            <a:pPr marL="0" indent="0">
              <a:buNone/>
            </a:pPr>
            <a:r>
              <a:rPr lang="en-US" sz="2200" dirty="0">
                <a:solidFill>
                  <a:srgbClr val="6B7280"/>
                </a:solidFill>
                <a:latin typeface="Segoe UI" pitchFamily="34" charset="0"/>
                <a:ea typeface="Segoe UI" pitchFamily="34" charset="-122"/>
                <a:cs typeface="Segoe UI" pitchFamily="34" charset="-120"/>
              </a:rPr>
              <a:t>Accelerating React Development</a:t>
            </a:r>
            <a:endParaRPr lang="en-US" sz="2200" dirty="0"/>
          </a:p>
        </p:txBody>
      </p:sp>
      <p:sp>
        <p:nvSpPr>
          <p:cNvPr id="6" name="Text 4"/>
          <p:cNvSpPr/>
          <p:nvPr/>
        </p:nvSpPr>
        <p:spPr>
          <a:xfrm>
            <a:off x="685800" y="6400800"/>
            <a:ext cx="7315200" cy="274320"/>
          </a:xfrm>
          <a:prstGeom prst="rect">
            <a:avLst/>
          </a:prstGeom>
          <a:noFill/>
          <a:ln/>
        </p:spPr>
        <p:txBody>
          <a:bodyPr wrap="square" rtlCol="0" anchor="ctr"/>
          <a:lstStyle/>
          <a:p>
            <a:pPr marL="0" indent="0">
              <a:buNone/>
            </a:pPr>
            <a:r>
              <a:rPr lang="en-US" sz="1000" kern="0" spc="100" dirty="0">
                <a:solidFill>
                  <a:srgbClr val="6B7280"/>
                </a:solidFill>
                <a:latin typeface="Segoe UI" pitchFamily="34" charset="0"/>
                <a:ea typeface="Segoe UI" pitchFamily="34" charset="-122"/>
                <a:cs typeface="Segoe UI" pitchFamily="34" charset="-120"/>
              </a:rPr>
              <a:t>MUI presentation · Mr. Chetniphat &amp; Mr.Naphon</a:t>
            </a:r>
            <a:endParaRPr lang="en-US" sz="1000" dirty="0"/>
          </a:p>
        </p:txBody>
      </p:sp>
      <p:sp>
        <p:nvSpPr>
          <p:cNvPr id="7" name="Text 5"/>
          <p:cNvSpPr/>
          <p:nvPr/>
        </p:nvSpPr>
        <p:spPr>
          <a:xfrm>
            <a:off x="10317175" y="6400800"/>
            <a:ext cx="1188720" cy="274320"/>
          </a:xfrm>
          <a:prstGeom prst="rect">
            <a:avLst/>
          </a:prstGeom>
          <a:noFill/>
          <a:ln/>
        </p:spPr>
        <p:txBody>
          <a:bodyPr wrap="square" rtlCol="0" anchor="ctr"/>
          <a:lstStyle/>
          <a:p>
            <a:pPr marL="0" indent="0" algn="r">
              <a:buNone/>
            </a:pPr>
            <a:r>
              <a:rPr lang="en-US" sz="1000" kern="0" spc="200" dirty="0">
                <a:solidFill>
                  <a:srgbClr val="6B7280"/>
                </a:solidFill>
                <a:latin typeface="Segoe UI" pitchFamily="34" charset="0"/>
                <a:ea typeface="Segoe UI" pitchFamily="34" charset="-122"/>
                <a:cs typeface="Segoe UI" pitchFamily="34" charset="-120"/>
              </a:rPr>
              <a:t>01 / 12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rtlCol="0" anchor="ctr"/>
          <a:lstStyle/>
          <a:p>
            <a:pPr marL="0" indent="0">
              <a:buNone/>
            </a:pPr>
            <a:r>
              <a:rPr lang="en-US" sz="1100" b="1" kern="0" spc="400" dirty="0">
                <a:solidFill>
                  <a:srgbClr val="007FFF"/>
                </a:solidFill>
                <a:latin typeface="Segoe UI" pitchFamily="34" charset="0"/>
                <a:ea typeface="Segoe UI" pitchFamily="34" charset="-122"/>
                <a:cs typeface="Segoe UI" pitchFamily="34" charset="-120"/>
              </a:rPr>
              <a:t>THE PROBLEM</a:t>
            </a:r>
            <a:endParaRPr lang="en-US" sz="1100" dirty="0"/>
          </a:p>
        </p:txBody>
      </p:sp>
      <p:sp>
        <p:nvSpPr>
          <p:cNvPr id="3" name="Text 1"/>
          <p:cNvSpPr/>
          <p:nvPr/>
        </p:nvSpPr>
        <p:spPr>
          <a:xfrm>
            <a:off x="685800" y="914400"/>
            <a:ext cx="10820095" cy="914400"/>
          </a:xfrm>
          <a:prstGeom prst="rect">
            <a:avLst/>
          </a:prstGeom>
          <a:noFill/>
          <a:ln/>
        </p:spPr>
        <p:txBody>
          <a:bodyPr wrap="square" rtlCol="0" anchor="ctr"/>
          <a:lstStyle/>
          <a:p>
            <a:pPr marL="0" indent="0">
              <a:buNone/>
            </a:pPr>
            <a:r>
              <a:rPr lang="en-US" sz="4400" b="1" dirty="0">
                <a:solidFill>
                  <a:srgbClr val="0A0A0A"/>
                </a:solidFill>
                <a:latin typeface="Segoe UI" pitchFamily="34" charset="0"/>
                <a:ea typeface="Segoe UI" pitchFamily="34" charset="-122"/>
                <a:cs typeface="Segoe UI" pitchFamily="34" charset="-120"/>
              </a:rPr>
              <a:t>Before component libraries.</a:t>
            </a:r>
            <a:endParaRPr lang="en-US" sz="4400" dirty="0"/>
          </a:p>
        </p:txBody>
      </p:sp>
      <p:sp>
        <p:nvSpPr>
          <p:cNvPr id="4" name="Text 2"/>
          <p:cNvSpPr/>
          <p:nvPr/>
        </p:nvSpPr>
        <p:spPr>
          <a:xfrm>
            <a:off x="685800" y="2468880"/>
            <a:ext cx="914400" cy="1051560"/>
          </a:xfrm>
          <a:prstGeom prst="rect">
            <a:avLst/>
          </a:prstGeom>
          <a:noFill/>
          <a:ln/>
        </p:spPr>
        <p:txBody>
          <a:bodyPr wrap="square" rtlCol="0" anchor="ctr"/>
          <a:lstStyle/>
          <a:p>
            <a:pPr marL="0" indent="0">
              <a:buNone/>
            </a:pPr>
            <a:r>
              <a:rPr lang="en-US" sz="2200" b="1" dirty="0">
                <a:solidFill>
                  <a:srgbClr val="007FFF"/>
                </a:solidFill>
                <a:latin typeface="Segoe UI" pitchFamily="34" charset="0"/>
                <a:ea typeface="Segoe UI" pitchFamily="34" charset="-122"/>
                <a:cs typeface="Segoe UI" pitchFamily="34" charset="-120"/>
              </a:rPr>
              <a:t>01</a:t>
            </a:r>
            <a:endParaRPr lang="en-US" sz="2200" dirty="0"/>
          </a:p>
        </p:txBody>
      </p:sp>
      <p:sp>
        <p:nvSpPr>
          <p:cNvPr id="5" name="Text 3"/>
          <p:cNvSpPr/>
          <p:nvPr/>
        </p:nvSpPr>
        <p:spPr>
          <a:xfrm>
            <a:off x="1691640" y="2468880"/>
            <a:ext cx="9814255" cy="1051560"/>
          </a:xfrm>
          <a:prstGeom prst="rect">
            <a:avLst/>
          </a:prstGeom>
          <a:noFill/>
          <a:ln/>
        </p:spPr>
        <p:txBody>
          <a:bodyPr wrap="square" rtlCol="0" anchor="ctr"/>
          <a:lstStyle/>
          <a:p>
            <a:pPr marL="0" indent="0">
              <a:buNone/>
            </a:pPr>
            <a:r>
              <a:rPr lang="en-US" sz="3600" dirty="0">
                <a:solidFill>
                  <a:srgbClr val="0A0A0A"/>
                </a:solidFill>
                <a:latin typeface="Segoe UI" pitchFamily="34" charset="0"/>
                <a:ea typeface="Segoe UI" pitchFamily="34" charset="-122"/>
                <a:cs typeface="Segoe UI" pitchFamily="34" charset="-120"/>
              </a:rPr>
              <a:t>CSS Spaghetti</a:t>
            </a:r>
            <a:endParaRPr lang="en-US" sz="3600" dirty="0"/>
          </a:p>
        </p:txBody>
      </p:sp>
      <p:sp>
        <p:nvSpPr>
          <p:cNvPr id="6" name="Shape 4"/>
          <p:cNvSpPr/>
          <p:nvPr/>
        </p:nvSpPr>
        <p:spPr>
          <a:xfrm>
            <a:off x="685800" y="3520440"/>
            <a:ext cx="10820095" cy="0"/>
          </a:xfrm>
          <a:prstGeom prst="line">
            <a:avLst/>
          </a:prstGeom>
          <a:noFill/>
          <a:ln w="9525">
            <a:solidFill>
              <a:srgbClr val="E5E7EB"/>
            </a:solidFill>
            <a:prstDash val="solid"/>
          </a:ln>
        </p:spPr>
        <p:txBody>
          <a:bodyPr/>
          <a:lstStyle/>
          <a:p>
            <a:endParaRPr lang="th-TH"/>
          </a:p>
        </p:txBody>
      </p:sp>
      <p:sp>
        <p:nvSpPr>
          <p:cNvPr id="7" name="Text 5"/>
          <p:cNvSpPr/>
          <p:nvPr/>
        </p:nvSpPr>
        <p:spPr>
          <a:xfrm>
            <a:off x="685800" y="3520440"/>
            <a:ext cx="914400" cy="1051560"/>
          </a:xfrm>
          <a:prstGeom prst="rect">
            <a:avLst/>
          </a:prstGeom>
          <a:noFill/>
          <a:ln/>
        </p:spPr>
        <p:txBody>
          <a:bodyPr wrap="square" rtlCol="0" anchor="ctr"/>
          <a:lstStyle/>
          <a:p>
            <a:pPr marL="0" indent="0">
              <a:buNone/>
            </a:pPr>
            <a:r>
              <a:rPr lang="en-US" sz="2200" b="1" dirty="0">
                <a:solidFill>
                  <a:srgbClr val="007FFF"/>
                </a:solidFill>
                <a:latin typeface="Segoe UI" pitchFamily="34" charset="0"/>
                <a:ea typeface="Segoe UI" pitchFamily="34" charset="-122"/>
                <a:cs typeface="Segoe UI" pitchFamily="34" charset="-120"/>
              </a:rPr>
              <a:t>02</a:t>
            </a:r>
            <a:endParaRPr lang="en-US" sz="2200" dirty="0"/>
          </a:p>
        </p:txBody>
      </p:sp>
      <p:sp>
        <p:nvSpPr>
          <p:cNvPr id="8" name="Text 6"/>
          <p:cNvSpPr/>
          <p:nvPr/>
        </p:nvSpPr>
        <p:spPr>
          <a:xfrm>
            <a:off x="1691640" y="3520440"/>
            <a:ext cx="9814255" cy="1051560"/>
          </a:xfrm>
          <a:prstGeom prst="rect">
            <a:avLst/>
          </a:prstGeom>
          <a:noFill/>
          <a:ln/>
        </p:spPr>
        <p:txBody>
          <a:bodyPr wrap="square" rtlCol="0" anchor="ctr"/>
          <a:lstStyle/>
          <a:p>
            <a:pPr marL="0" indent="0">
              <a:buNone/>
            </a:pPr>
            <a:r>
              <a:rPr lang="en-US" sz="3600" dirty="0">
                <a:solidFill>
                  <a:srgbClr val="0A0A0A"/>
                </a:solidFill>
                <a:latin typeface="Segoe UI" pitchFamily="34" charset="0"/>
                <a:ea typeface="Segoe UI" pitchFamily="34" charset="-122"/>
                <a:cs typeface="Segoe UI" pitchFamily="34" charset="-120"/>
              </a:rPr>
              <a:t>Cross-Browser Chaos</a:t>
            </a:r>
            <a:endParaRPr lang="en-US" sz="3600" dirty="0"/>
          </a:p>
        </p:txBody>
      </p:sp>
      <p:sp>
        <p:nvSpPr>
          <p:cNvPr id="9" name="Shape 7"/>
          <p:cNvSpPr/>
          <p:nvPr/>
        </p:nvSpPr>
        <p:spPr>
          <a:xfrm>
            <a:off x="685800" y="4572000"/>
            <a:ext cx="10820095" cy="0"/>
          </a:xfrm>
          <a:prstGeom prst="line">
            <a:avLst/>
          </a:prstGeom>
          <a:noFill/>
          <a:ln w="9525">
            <a:solidFill>
              <a:srgbClr val="E5E7EB"/>
            </a:solidFill>
            <a:prstDash val="solid"/>
          </a:ln>
        </p:spPr>
        <p:txBody>
          <a:bodyPr/>
          <a:lstStyle/>
          <a:p>
            <a:endParaRPr lang="th-TH"/>
          </a:p>
        </p:txBody>
      </p:sp>
      <p:sp>
        <p:nvSpPr>
          <p:cNvPr id="10" name="Text 8"/>
          <p:cNvSpPr/>
          <p:nvPr/>
        </p:nvSpPr>
        <p:spPr>
          <a:xfrm>
            <a:off x="685800" y="4572000"/>
            <a:ext cx="914400" cy="1051560"/>
          </a:xfrm>
          <a:prstGeom prst="rect">
            <a:avLst/>
          </a:prstGeom>
          <a:noFill/>
          <a:ln/>
        </p:spPr>
        <p:txBody>
          <a:bodyPr wrap="square" rtlCol="0" anchor="ctr"/>
          <a:lstStyle/>
          <a:p>
            <a:pPr marL="0" indent="0">
              <a:buNone/>
            </a:pPr>
            <a:r>
              <a:rPr lang="en-US" sz="2200" b="1" dirty="0">
                <a:solidFill>
                  <a:srgbClr val="007FFF"/>
                </a:solidFill>
                <a:latin typeface="Segoe UI" pitchFamily="34" charset="0"/>
                <a:ea typeface="Segoe UI" pitchFamily="34" charset="-122"/>
                <a:cs typeface="Segoe UI" pitchFamily="34" charset="-120"/>
              </a:rPr>
              <a:t>03</a:t>
            </a:r>
            <a:endParaRPr lang="en-US" sz="2200" dirty="0"/>
          </a:p>
        </p:txBody>
      </p:sp>
      <p:sp>
        <p:nvSpPr>
          <p:cNvPr id="11" name="Text 9"/>
          <p:cNvSpPr/>
          <p:nvPr/>
        </p:nvSpPr>
        <p:spPr>
          <a:xfrm>
            <a:off x="1691640" y="4572000"/>
            <a:ext cx="9814255" cy="1051560"/>
          </a:xfrm>
          <a:prstGeom prst="rect">
            <a:avLst/>
          </a:prstGeom>
          <a:noFill/>
          <a:ln/>
        </p:spPr>
        <p:txBody>
          <a:bodyPr wrap="square" rtlCol="0" anchor="ctr"/>
          <a:lstStyle/>
          <a:p>
            <a:pPr marL="0" indent="0">
              <a:buNone/>
            </a:pPr>
            <a:r>
              <a:rPr lang="en-US" sz="3600" dirty="0">
                <a:solidFill>
                  <a:srgbClr val="0A0A0A"/>
                </a:solidFill>
                <a:latin typeface="Segoe UI" pitchFamily="34" charset="0"/>
                <a:ea typeface="Segoe UI" pitchFamily="34" charset="-122"/>
                <a:cs typeface="Segoe UI" pitchFamily="34" charset="-120"/>
              </a:rPr>
              <a:t>Accessibility Nightmares</a:t>
            </a:r>
            <a:endParaRPr lang="en-US" sz="3600" dirty="0"/>
          </a:p>
        </p:txBody>
      </p:sp>
      <p:sp>
        <p:nvSpPr>
          <p:cNvPr id="12" name="Shape 10"/>
          <p:cNvSpPr/>
          <p:nvPr/>
        </p:nvSpPr>
        <p:spPr>
          <a:xfrm>
            <a:off x="685800" y="5623560"/>
            <a:ext cx="10820095" cy="0"/>
          </a:xfrm>
          <a:prstGeom prst="line">
            <a:avLst/>
          </a:prstGeom>
          <a:noFill/>
          <a:ln w="9525">
            <a:solidFill>
              <a:srgbClr val="E5E7EB"/>
            </a:solidFill>
            <a:prstDash val="solid"/>
          </a:ln>
        </p:spPr>
        <p:txBody>
          <a:bodyPr/>
          <a:lstStyle/>
          <a:p>
            <a:endParaRPr lang="th-TH"/>
          </a:p>
        </p:txBody>
      </p:sp>
      <p:sp>
        <p:nvSpPr>
          <p:cNvPr id="13" name="Text 11"/>
          <p:cNvSpPr/>
          <p:nvPr/>
        </p:nvSpPr>
        <p:spPr>
          <a:xfrm>
            <a:off x="10317175" y="6400800"/>
            <a:ext cx="1188720" cy="274320"/>
          </a:xfrm>
          <a:prstGeom prst="rect">
            <a:avLst/>
          </a:prstGeom>
          <a:noFill/>
          <a:ln/>
        </p:spPr>
        <p:txBody>
          <a:bodyPr wrap="square" rtlCol="0" anchor="ctr"/>
          <a:lstStyle/>
          <a:p>
            <a:pPr marL="0" indent="0" algn="r">
              <a:buNone/>
            </a:pPr>
            <a:r>
              <a:rPr lang="en-US" sz="1000" kern="0" spc="200" dirty="0">
                <a:solidFill>
                  <a:srgbClr val="6B7280"/>
                </a:solidFill>
                <a:latin typeface="Segoe UI" pitchFamily="34" charset="0"/>
                <a:ea typeface="Segoe UI" pitchFamily="34" charset="-122"/>
                <a:cs typeface="Segoe UI" pitchFamily="34" charset="-120"/>
              </a:rPr>
              <a:t>02 / 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rtlCol="0" anchor="ctr"/>
          <a:lstStyle/>
          <a:p>
            <a:pPr marL="0" indent="0">
              <a:buNone/>
            </a:pPr>
            <a:r>
              <a:rPr lang="en-US" sz="1100" b="1" kern="0" spc="400" dirty="0">
                <a:solidFill>
                  <a:srgbClr val="007FFF"/>
                </a:solidFill>
                <a:latin typeface="Segoe UI" pitchFamily="34" charset="0"/>
                <a:ea typeface="Segoe UI" pitchFamily="34" charset="-122"/>
                <a:cs typeface="Segoe UI" pitchFamily="34" charset="-120"/>
              </a:rPr>
              <a:t>INTRODUCTION</a:t>
            </a:r>
            <a:endParaRPr lang="en-US" sz="1100" dirty="0"/>
          </a:p>
        </p:txBody>
      </p:sp>
      <p:sp>
        <p:nvSpPr>
          <p:cNvPr id="3" name="Text 1"/>
          <p:cNvSpPr/>
          <p:nvPr/>
        </p:nvSpPr>
        <p:spPr>
          <a:xfrm>
            <a:off x="685800" y="914400"/>
            <a:ext cx="10820095" cy="914400"/>
          </a:xfrm>
          <a:prstGeom prst="rect">
            <a:avLst/>
          </a:prstGeom>
          <a:noFill/>
          <a:ln/>
        </p:spPr>
        <p:txBody>
          <a:bodyPr wrap="square" rtlCol="0" anchor="ctr"/>
          <a:lstStyle/>
          <a:p>
            <a:pPr marL="0" indent="0">
              <a:buNone/>
            </a:pPr>
            <a:r>
              <a:rPr lang="en-US" sz="4400" b="1" dirty="0">
                <a:solidFill>
                  <a:srgbClr val="0A0A0A"/>
                </a:solidFill>
                <a:latin typeface="Segoe UI" pitchFamily="34" charset="0"/>
                <a:ea typeface="Segoe UI" pitchFamily="34" charset="-122"/>
                <a:cs typeface="Segoe UI" pitchFamily="34" charset="-120"/>
              </a:rPr>
              <a:t>What is MUI?</a:t>
            </a:r>
            <a:endParaRPr lang="en-US" sz="4400" dirty="0"/>
          </a:p>
        </p:txBody>
      </p:sp>
      <p:sp>
        <p:nvSpPr>
          <p:cNvPr id="4" name="Shape 2"/>
          <p:cNvSpPr/>
          <p:nvPr/>
        </p:nvSpPr>
        <p:spPr>
          <a:xfrm>
            <a:off x="4632808" y="2651760"/>
            <a:ext cx="2926080" cy="1463040"/>
          </a:xfrm>
          <a:prstGeom prst="roundRect">
            <a:avLst>
              <a:gd name="adj" fmla="val 11250"/>
            </a:avLst>
          </a:prstGeom>
          <a:solidFill>
            <a:srgbClr val="007FFF"/>
          </a:solidFill>
          <a:ln w="12700">
            <a:solidFill>
              <a:srgbClr val="007FFF"/>
            </a:solidFill>
            <a:prstDash val="solid"/>
          </a:ln>
        </p:spPr>
        <p:txBody>
          <a:bodyPr/>
          <a:lstStyle/>
          <a:p>
            <a:endParaRPr lang="th-TH"/>
          </a:p>
        </p:txBody>
      </p:sp>
      <p:sp>
        <p:nvSpPr>
          <p:cNvPr id="5" name="Text 3"/>
          <p:cNvSpPr/>
          <p:nvPr/>
        </p:nvSpPr>
        <p:spPr>
          <a:xfrm>
            <a:off x="4632808" y="2651760"/>
            <a:ext cx="2926080" cy="1463040"/>
          </a:xfrm>
          <a:prstGeom prst="rect">
            <a:avLst/>
          </a:prstGeom>
          <a:noFill/>
          <a:ln/>
        </p:spPr>
        <p:txBody>
          <a:bodyPr wrap="square" rtlCol="0" anchor="ctr"/>
          <a:lstStyle/>
          <a:p>
            <a:pPr marL="0" indent="0" algn="ctr">
              <a:buNone/>
            </a:pPr>
            <a:r>
              <a:rPr lang="en-US" sz="6400" b="1" dirty="0">
                <a:solidFill>
                  <a:srgbClr val="FFFFFF"/>
                </a:solidFill>
                <a:latin typeface="Segoe UI" pitchFamily="34" charset="0"/>
                <a:ea typeface="Segoe UI" pitchFamily="34" charset="-122"/>
                <a:cs typeface="Segoe UI" pitchFamily="34" charset="-120"/>
              </a:rPr>
              <a:t>MUI</a:t>
            </a:r>
            <a:endParaRPr lang="en-US" sz="6400" dirty="0"/>
          </a:p>
        </p:txBody>
      </p:sp>
      <p:sp>
        <p:nvSpPr>
          <p:cNvPr id="6" name="Text 4"/>
          <p:cNvSpPr/>
          <p:nvPr/>
        </p:nvSpPr>
        <p:spPr>
          <a:xfrm>
            <a:off x="685800" y="4480560"/>
            <a:ext cx="10820095" cy="548640"/>
          </a:xfrm>
          <a:prstGeom prst="rect">
            <a:avLst/>
          </a:prstGeom>
          <a:noFill/>
          <a:ln/>
        </p:spPr>
        <p:txBody>
          <a:bodyPr wrap="square" rtlCol="0" anchor="ctr"/>
          <a:lstStyle/>
          <a:p>
            <a:pPr marL="0" indent="0" algn="ctr">
              <a:buNone/>
            </a:pPr>
            <a:r>
              <a:rPr lang="en-US" sz="2600" dirty="0">
                <a:solidFill>
                  <a:srgbClr val="0A0A0A"/>
                </a:solidFill>
                <a:latin typeface="Segoe UI" pitchFamily="34" charset="0"/>
                <a:ea typeface="Segoe UI" pitchFamily="34" charset="-122"/>
                <a:cs typeface="Segoe UI" pitchFamily="34" charset="-120"/>
              </a:rPr>
              <a:t>Google's Material Design, built for React.</a:t>
            </a:r>
            <a:endParaRPr lang="en-US" sz="2600" dirty="0"/>
          </a:p>
        </p:txBody>
      </p:sp>
      <p:sp>
        <p:nvSpPr>
          <p:cNvPr id="7" name="Text 5"/>
          <p:cNvSpPr/>
          <p:nvPr/>
        </p:nvSpPr>
        <p:spPr>
          <a:xfrm>
            <a:off x="685800" y="5074920"/>
            <a:ext cx="10820095" cy="365760"/>
          </a:xfrm>
          <a:prstGeom prst="rect">
            <a:avLst/>
          </a:prstGeom>
          <a:noFill/>
          <a:ln/>
        </p:spPr>
        <p:txBody>
          <a:bodyPr wrap="square" rtlCol="0" anchor="ctr"/>
          <a:lstStyle/>
          <a:p>
            <a:pPr marL="0" indent="0" algn="ctr">
              <a:buNone/>
            </a:pPr>
            <a:r>
              <a:rPr lang="en-US" sz="1300" dirty="0">
                <a:solidFill>
                  <a:srgbClr val="6B7280"/>
                </a:solidFill>
                <a:latin typeface="Consolas" pitchFamily="34" charset="0"/>
                <a:ea typeface="Consolas" pitchFamily="34" charset="-122"/>
                <a:cs typeface="Consolas" pitchFamily="34" charset="-120"/>
              </a:rPr>
              <a:t>npm i @mui/material @emotion/react @emotion/styled</a:t>
            </a:r>
            <a:endParaRPr lang="en-US" sz="1300" dirty="0"/>
          </a:p>
        </p:txBody>
      </p:sp>
      <p:sp>
        <p:nvSpPr>
          <p:cNvPr id="8" name="Text 6"/>
          <p:cNvSpPr/>
          <p:nvPr/>
        </p:nvSpPr>
        <p:spPr>
          <a:xfrm>
            <a:off x="10317175" y="6400800"/>
            <a:ext cx="1188720" cy="274320"/>
          </a:xfrm>
          <a:prstGeom prst="rect">
            <a:avLst/>
          </a:prstGeom>
          <a:noFill/>
          <a:ln/>
        </p:spPr>
        <p:txBody>
          <a:bodyPr wrap="square" rtlCol="0" anchor="ctr"/>
          <a:lstStyle/>
          <a:p>
            <a:pPr marL="0" indent="0" algn="r">
              <a:buNone/>
            </a:pPr>
            <a:r>
              <a:rPr lang="en-US" sz="1000" kern="0" spc="200" dirty="0">
                <a:solidFill>
                  <a:srgbClr val="6B7280"/>
                </a:solidFill>
                <a:latin typeface="Segoe UI" pitchFamily="34" charset="0"/>
                <a:ea typeface="Segoe UI" pitchFamily="34" charset="-122"/>
                <a:cs typeface="Segoe UI" pitchFamily="34" charset="-120"/>
              </a:rPr>
              <a:t>03 / 12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rtlCol="0" anchor="ctr"/>
          <a:lstStyle/>
          <a:p>
            <a:pPr marL="0" indent="0">
              <a:buNone/>
            </a:pPr>
            <a:r>
              <a:rPr lang="en-US" sz="1100" b="1" kern="0" spc="400" dirty="0">
                <a:solidFill>
                  <a:srgbClr val="007FFF"/>
                </a:solidFill>
                <a:latin typeface="Segoe UI" pitchFamily="34" charset="0"/>
                <a:ea typeface="Segoe UI" pitchFamily="34" charset="-122"/>
                <a:cs typeface="Segoe UI" pitchFamily="34" charset="-120"/>
              </a:rPr>
              <a:t>THE PITCH</a:t>
            </a:r>
            <a:endParaRPr lang="en-US" sz="1100" dirty="0"/>
          </a:p>
        </p:txBody>
      </p:sp>
      <p:sp>
        <p:nvSpPr>
          <p:cNvPr id="3" name="Text 1"/>
          <p:cNvSpPr/>
          <p:nvPr/>
        </p:nvSpPr>
        <p:spPr>
          <a:xfrm>
            <a:off x="685800" y="914400"/>
            <a:ext cx="10820095" cy="914400"/>
          </a:xfrm>
          <a:prstGeom prst="rect">
            <a:avLst/>
          </a:prstGeom>
          <a:noFill/>
          <a:ln/>
        </p:spPr>
        <p:txBody>
          <a:bodyPr wrap="square" rtlCol="0" anchor="ctr"/>
          <a:lstStyle/>
          <a:p>
            <a:pPr marL="0" indent="0">
              <a:buNone/>
            </a:pPr>
            <a:r>
              <a:rPr lang="en-US" sz="4400" b="1" dirty="0">
                <a:solidFill>
                  <a:srgbClr val="0A0A0A"/>
                </a:solidFill>
                <a:latin typeface="Segoe UI" pitchFamily="34" charset="0"/>
                <a:ea typeface="Segoe UI" pitchFamily="34" charset="-122"/>
                <a:cs typeface="Segoe UI" pitchFamily="34" charset="-120"/>
              </a:rPr>
              <a:t>Why MUI?</a:t>
            </a:r>
            <a:endParaRPr lang="en-US" sz="4400" dirty="0"/>
          </a:p>
        </p:txBody>
      </p:sp>
      <p:sp>
        <p:nvSpPr>
          <p:cNvPr id="4" name="Text 2"/>
          <p:cNvSpPr/>
          <p:nvPr/>
        </p:nvSpPr>
        <p:spPr>
          <a:xfrm>
            <a:off x="685800" y="2926080"/>
            <a:ext cx="10820095" cy="1645920"/>
          </a:xfrm>
          <a:prstGeom prst="rect">
            <a:avLst/>
          </a:prstGeom>
          <a:noFill/>
          <a:ln/>
        </p:spPr>
        <p:txBody>
          <a:bodyPr wrap="square" rtlCol="0" anchor="ctr"/>
          <a:lstStyle/>
          <a:p>
            <a:pPr marL="0" indent="0" algn="ctr">
              <a:buNone/>
            </a:pPr>
            <a:r>
              <a:rPr lang="en-US" sz="6000" b="1" dirty="0">
                <a:solidFill>
                  <a:srgbClr val="007FFF"/>
                </a:solidFill>
                <a:latin typeface="Segoe UI" pitchFamily="34" charset="0"/>
                <a:ea typeface="Segoe UI" pitchFamily="34" charset="-122"/>
                <a:cs typeface="Segoe UI" pitchFamily="34" charset="-120"/>
              </a:rPr>
              <a:t>Velocity.  </a:t>
            </a:r>
            <a:r>
              <a:rPr lang="en-US" sz="6000" b="1" dirty="0">
                <a:solidFill>
                  <a:srgbClr val="0A0A0A"/>
                </a:solidFill>
                <a:latin typeface="Segoe UI" pitchFamily="34" charset="0"/>
                <a:ea typeface="Segoe UI" pitchFamily="34" charset="-122"/>
                <a:cs typeface="Segoe UI" pitchFamily="34" charset="-120"/>
              </a:rPr>
              <a:t>Consistency.  </a:t>
            </a:r>
            <a:r>
              <a:rPr lang="en-US" sz="6000" b="1" dirty="0">
                <a:solidFill>
                  <a:srgbClr val="6B7280"/>
                </a:solidFill>
                <a:latin typeface="Segoe UI" pitchFamily="34" charset="0"/>
                <a:ea typeface="Segoe UI" pitchFamily="34" charset="-122"/>
                <a:cs typeface="Segoe UI" pitchFamily="34" charset="-120"/>
              </a:rPr>
              <a:t>Reliability.</a:t>
            </a:r>
            <a:endParaRPr lang="en-US" sz="6000" dirty="0"/>
          </a:p>
        </p:txBody>
      </p:sp>
      <p:sp>
        <p:nvSpPr>
          <p:cNvPr id="5" name="Text 3"/>
          <p:cNvSpPr/>
          <p:nvPr/>
        </p:nvSpPr>
        <p:spPr>
          <a:xfrm>
            <a:off x="10317175" y="6400800"/>
            <a:ext cx="1188720" cy="274320"/>
          </a:xfrm>
          <a:prstGeom prst="rect">
            <a:avLst/>
          </a:prstGeom>
          <a:noFill/>
          <a:ln/>
        </p:spPr>
        <p:txBody>
          <a:bodyPr wrap="square" rtlCol="0" anchor="ctr"/>
          <a:lstStyle/>
          <a:p>
            <a:pPr marL="0" indent="0" algn="r">
              <a:buNone/>
            </a:pPr>
            <a:r>
              <a:rPr lang="en-US" sz="1000" kern="0" spc="200" dirty="0">
                <a:solidFill>
                  <a:srgbClr val="6B7280"/>
                </a:solidFill>
                <a:latin typeface="Segoe UI" pitchFamily="34" charset="0"/>
                <a:ea typeface="Segoe UI" pitchFamily="34" charset="-122"/>
                <a:cs typeface="Segoe UI" pitchFamily="34" charset="-120"/>
              </a:rPr>
              <a:t>04 / 12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rtlCol="0" anchor="ctr"/>
          <a:lstStyle/>
          <a:p>
            <a:pPr marL="0" indent="0">
              <a:buNone/>
            </a:pPr>
            <a:r>
              <a:rPr lang="en-US" sz="1100" b="1" kern="0" spc="400" dirty="0">
                <a:solidFill>
                  <a:srgbClr val="007FFF"/>
                </a:solidFill>
                <a:latin typeface="Segoe UI" pitchFamily="34" charset="0"/>
                <a:ea typeface="Segoe UI" pitchFamily="34" charset="-122"/>
                <a:cs typeface="Segoe UI" pitchFamily="34" charset="-120"/>
              </a:rPr>
              <a:t>WHERE IT FITS</a:t>
            </a:r>
            <a:endParaRPr lang="en-US" sz="1100" dirty="0"/>
          </a:p>
        </p:txBody>
      </p:sp>
      <p:sp>
        <p:nvSpPr>
          <p:cNvPr id="3" name="Text 1"/>
          <p:cNvSpPr/>
          <p:nvPr/>
        </p:nvSpPr>
        <p:spPr>
          <a:xfrm>
            <a:off x="685800" y="914400"/>
            <a:ext cx="10820095" cy="914400"/>
          </a:xfrm>
          <a:prstGeom prst="rect">
            <a:avLst/>
          </a:prstGeom>
          <a:noFill/>
          <a:ln/>
        </p:spPr>
        <p:txBody>
          <a:bodyPr wrap="square" rtlCol="0" anchor="ctr"/>
          <a:lstStyle/>
          <a:p>
            <a:pPr marL="0" indent="0">
              <a:buNone/>
            </a:pPr>
            <a:r>
              <a:rPr lang="en-US" sz="4400" b="1" dirty="0">
                <a:solidFill>
                  <a:srgbClr val="0A0A0A"/>
                </a:solidFill>
                <a:latin typeface="Segoe UI" pitchFamily="34" charset="0"/>
                <a:ea typeface="Segoe UI" pitchFamily="34" charset="-122"/>
                <a:cs typeface="Segoe UI" pitchFamily="34" charset="-120"/>
              </a:rPr>
              <a:t>Best for:</a:t>
            </a:r>
            <a:endParaRPr lang="en-US" sz="4400" dirty="0"/>
          </a:p>
        </p:txBody>
      </p:sp>
      <p:sp>
        <p:nvSpPr>
          <p:cNvPr id="4" name="Shape 2"/>
          <p:cNvSpPr/>
          <p:nvPr/>
        </p:nvSpPr>
        <p:spPr>
          <a:xfrm>
            <a:off x="746608" y="2743200"/>
            <a:ext cx="3291840" cy="2377440"/>
          </a:xfrm>
          <a:prstGeom prst="roundRect">
            <a:avLst>
              <a:gd name="adj" fmla="val 3846"/>
            </a:avLst>
          </a:prstGeom>
          <a:solidFill>
            <a:srgbClr val="FFFFFF"/>
          </a:solidFill>
          <a:ln w="12700">
            <a:solidFill>
              <a:srgbClr val="E5E7EB"/>
            </a:solidFill>
            <a:prstDash val="solid"/>
          </a:ln>
        </p:spPr>
        <p:txBody>
          <a:bodyPr/>
          <a:lstStyle/>
          <a:p>
            <a:endParaRPr lang="th-TH"/>
          </a:p>
        </p:txBody>
      </p:sp>
      <p:sp>
        <p:nvSpPr>
          <p:cNvPr id="5" name="Text 3"/>
          <p:cNvSpPr/>
          <p:nvPr/>
        </p:nvSpPr>
        <p:spPr>
          <a:xfrm>
            <a:off x="1020928" y="3017520"/>
            <a:ext cx="1371600" cy="274320"/>
          </a:xfrm>
          <a:prstGeom prst="rect">
            <a:avLst/>
          </a:prstGeom>
          <a:noFill/>
          <a:ln/>
        </p:spPr>
        <p:txBody>
          <a:bodyPr wrap="square" rtlCol="0" anchor="ctr"/>
          <a:lstStyle/>
          <a:p>
            <a:pPr marL="0" indent="0">
              <a:buNone/>
            </a:pPr>
            <a:r>
              <a:rPr lang="en-US" sz="1100" b="1" kern="0" spc="400" dirty="0">
                <a:solidFill>
                  <a:srgbClr val="007FFF"/>
                </a:solidFill>
                <a:latin typeface="Segoe UI" pitchFamily="34" charset="0"/>
                <a:ea typeface="Segoe UI" pitchFamily="34" charset="-122"/>
                <a:cs typeface="Segoe UI" pitchFamily="34" charset="-120"/>
              </a:rPr>
              <a:t>01</a:t>
            </a:r>
            <a:endParaRPr lang="en-US" sz="1100" dirty="0"/>
          </a:p>
        </p:txBody>
      </p:sp>
      <p:sp>
        <p:nvSpPr>
          <p:cNvPr id="6" name="Text 4"/>
          <p:cNvSpPr/>
          <p:nvPr/>
        </p:nvSpPr>
        <p:spPr>
          <a:xfrm>
            <a:off x="1020928" y="3520440"/>
            <a:ext cx="2743200" cy="914400"/>
          </a:xfrm>
          <a:prstGeom prst="rect">
            <a:avLst/>
          </a:prstGeom>
          <a:noFill/>
          <a:ln/>
        </p:spPr>
        <p:txBody>
          <a:bodyPr wrap="square" rtlCol="0" anchor="ctr"/>
          <a:lstStyle/>
          <a:p>
            <a:pPr marL="0" indent="0">
              <a:buNone/>
            </a:pPr>
            <a:r>
              <a:rPr lang="en-US" sz="2600" b="1" dirty="0">
                <a:solidFill>
                  <a:srgbClr val="0A0A0A"/>
                </a:solidFill>
                <a:latin typeface="Segoe UI" pitchFamily="34" charset="0"/>
                <a:ea typeface="Segoe UI" pitchFamily="34" charset="-122"/>
                <a:cs typeface="Segoe UI" pitchFamily="34" charset="-120"/>
              </a:rPr>
              <a:t>Admin Dashboards</a:t>
            </a:r>
            <a:endParaRPr lang="en-US" sz="2600" dirty="0"/>
          </a:p>
        </p:txBody>
      </p:sp>
      <p:sp>
        <p:nvSpPr>
          <p:cNvPr id="7" name="Text 5"/>
          <p:cNvSpPr/>
          <p:nvPr/>
        </p:nvSpPr>
        <p:spPr>
          <a:xfrm>
            <a:off x="1020928" y="4343400"/>
            <a:ext cx="2743200" cy="457200"/>
          </a:xfrm>
          <a:prstGeom prst="rect">
            <a:avLst/>
          </a:prstGeom>
          <a:noFill/>
          <a:ln/>
        </p:spPr>
        <p:txBody>
          <a:bodyPr wrap="square" rtlCol="0" anchor="ctr"/>
          <a:lstStyle/>
          <a:p>
            <a:pPr marL="0" indent="0">
              <a:buNone/>
            </a:pPr>
            <a:r>
              <a:rPr lang="en-US" sz="1400" dirty="0">
                <a:solidFill>
                  <a:srgbClr val="6B7280"/>
                </a:solidFill>
                <a:latin typeface="Segoe UI" pitchFamily="34" charset="0"/>
                <a:ea typeface="Segoe UI" pitchFamily="34" charset="-122"/>
                <a:cs typeface="Segoe UI" pitchFamily="34" charset="-120"/>
              </a:rPr>
              <a:t>Tables, charts, filters.</a:t>
            </a:r>
            <a:endParaRPr lang="en-US" sz="1400" dirty="0"/>
          </a:p>
        </p:txBody>
      </p:sp>
      <p:sp>
        <p:nvSpPr>
          <p:cNvPr id="8" name="Shape 6"/>
          <p:cNvSpPr/>
          <p:nvPr/>
        </p:nvSpPr>
        <p:spPr>
          <a:xfrm>
            <a:off x="4449928" y="2743200"/>
            <a:ext cx="3291840" cy="2377440"/>
          </a:xfrm>
          <a:prstGeom prst="roundRect">
            <a:avLst>
              <a:gd name="adj" fmla="val 3846"/>
            </a:avLst>
          </a:prstGeom>
          <a:solidFill>
            <a:srgbClr val="FFFFFF"/>
          </a:solidFill>
          <a:ln w="12700">
            <a:solidFill>
              <a:srgbClr val="E5E7EB"/>
            </a:solidFill>
            <a:prstDash val="solid"/>
          </a:ln>
        </p:spPr>
        <p:txBody>
          <a:bodyPr/>
          <a:lstStyle/>
          <a:p>
            <a:endParaRPr lang="th-TH"/>
          </a:p>
        </p:txBody>
      </p:sp>
      <p:sp>
        <p:nvSpPr>
          <p:cNvPr id="9" name="Text 7"/>
          <p:cNvSpPr/>
          <p:nvPr/>
        </p:nvSpPr>
        <p:spPr>
          <a:xfrm>
            <a:off x="4724248" y="3017520"/>
            <a:ext cx="1371600" cy="274320"/>
          </a:xfrm>
          <a:prstGeom prst="rect">
            <a:avLst/>
          </a:prstGeom>
          <a:noFill/>
          <a:ln/>
        </p:spPr>
        <p:txBody>
          <a:bodyPr wrap="square" rtlCol="0" anchor="ctr"/>
          <a:lstStyle/>
          <a:p>
            <a:pPr marL="0" indent="0">
              <a:buNone/>
            </a:pPr>
            <a:r>
              <a:rPr lang="en-US" sz="1100" b="1" kern="0" spc="400" dirty="0">
                <a:solidFill>
                  <a:srgbClr val="007FFF"/>
                </a:solidFill>
                <a:latin typeface="Segoe UI" pitchFamily="34" charset="0"/>
                <a:ea typeface="Segoe UI" pitchFamily="34" charset="-122"/>
                <a:cs typeface="Segoe UI" pitchFamily="34" charset="-120"/>
              </a:rPr>
              <a:t>02</a:t>
            </a:r>
            <a:endParaRPr lang="en-US" sz="1100" dirty="0"/>
          </a:p>
        </p:txBody>
      </p:sp>
      <p:sp>
        <p:nvSpPr>
          <p:cNvPr id="10" name="Text 8"/>
          <p:cNvSpPr/>
          <p:nvPr/>
        </p:nvSpPr>
        <p:spPr>
          <a:xfrm>
            <a:off x="4724248" y="3520440"/>
            <a:ext cx="2743200" cy="914400"/>
          </a:xfrm>
          <a:prstGeom prst="rect">
            <a:avLst/>
          </a:prstGeom>
          <a:noFill/>
          <a:ln/>
        </p:spPr>
        <p:txBody>
          <a:bodyPr wrap="square" rtlCol="0" anchor="ctr"/>
          <a:lstStyle/>
          <a:p>
            <a:pPr marL="0" indent="0">
              <a:buNone/>
            </a:pPr>
            <a:r>
              <a:rPr lang="en-US" sz="2600" b="1" dirty="0">
                <a:solidFill>
                  <a:srgbClr val="0A0A0A"/>
                </a:solidFill>
                <a:latin typeface="Segoe UI" pitchFamily="34" charset="0"/>
                <a:ea typeface="Segoe UI" pitchFamily="34" charset="-122"/>
                <a:cs typeface="Segoe UI" pitchFamily="34" charset="-120"/>
              </a:rPr>
              <a:t>Enterprise SaaS</a:t>
            </a:r>
            <a:endParaRPr lang="en-US" sz="2600" dirty="0"/>
          </a:p>
        </p:txBody>
      </p:sp>
      <p:sp>
        <p:nvSpPr>
          <p:cNvPr id="11" name="Text 9"/>
          <p:cNvSpPr/>
          <p:nvPr/>
        </p:nvSpPr>
        <p:spPr>
          <a:xfrm>
            <a:off x="4724248" y="4343400"/>
            <a:ext cx="2743200" cy="457200"/>
          </a:xfrm>
          <a:prstGeom prst="rect">
            <a:avLst/>
          </a:prstGeom>
          <a:noFill/>
          <a:ln/>
        </p:spPr>
        <p:txBody>
          <a:bodyPr wrap="square" rtlCol="0" anchor="ctr"/>
          <a:lstStyle/>
          <a:p>
            <a:pPr marL="0" indent="0">
              <a:buNone/>
            </a:pPr>
            <a:r>
              <a:rPr lang="en-US" sz="1400" dirty="0">
                <a:solidFill>
                  <a:srgbClr val="6B7280"/>
                </a:solidFill>
                <a:latin typeface="Segoe UI" pitchFamily="34" charset="0"/>
                <a:ea typeface="Segoe UI" pitchFamily="34" charset="-122"/>
                <a:cs typeface="Segoe UI" pitchFamily="34" charset="-120"/>
              </a:rPr>
              <a:t>Complex forms, data flows.</a:t>
            </a:r>
            <a:endParaRPr lang="en-US" sz="1400" dirty="0"/>
          </a:p>
        </p:txBody>
      </p:sp>
      <p:sp>
        <p:nvSpPr>
          <p:cNvPr id="12" name="Shape 10"/>
          <p:cNvSpPr/>
          <p:nvPr/>
        </p:nvSpPr>
        <p:spPr>
          <a:xfrm>
            <a:off x="8153248" y="2743200"/>
            <a:ext cx="3291840" cy="2377440"/>
          </a:xfrm>
          <a:prstGeom prst="roundRect">
            <a:avLst>
              <a:gd name="adj" fmla="val 3846"/>
            </a:avLst>
          </a:prstGeom>
          <a:solidFill>
            <a:srgbClr val="FFFFFF"/>
          </a:solidFill>
          <a:ln w="12700">
            <a:solidFill>
              <a:srgbClr val="E5E7EB"/>
            </a:solidFill>
            <a:prstDash val="solid"/>
          </a:ln>
        </p:spPr>
        <p:txBody>
          <a:bodyPr/>
          <a:lstStyle/>
          <a:p>
            <a:endParaRPr lang="th-TH"/>
          </a:p>
        </p:txBody>
      </p:sp>
      <p:sp>
        <p:nvSpPr>
          <p:cNvPr id="13" name="Text 11"/>
          <p:cNvSpPr/>
          <p:nvPr/>
        </p:nvSpPr>
        <p:spPr>
          <a:xfrm>
            <a:off x="8427568" y="3017520"/>
            <a:ext cx="1371600" cy="274320"/>
          </a:xfrm>
          <a:prstGeom prst="rect">
            <a:avLst/>
          </a:prstGeom>
          <a:noFill/>
          <a:ln/>
        </p:spPr>
        <p:txBody>
          <a:bodyPr wrap="square" rtlCol="0" anchor="ctr"/>
          <a:lstStyle/>
          <a:p>
            <a:pPr marL="0" indent="0">
              <a:buNone/>
            </a:pPr>
            <a:r>
              <a:rPr lang="en-US" sz="1100" b="1" kern="0" spc="400" dirty="0">
                <a:solidFill>
                  <a:srgbClr val="007FFF"/>
                </a:solidFill>
                <a:latin typeface="Segoe UI" pitchFamily="34" charset="0"/>
                <a:ea typeface="Segoe UI" pitchFamily="34" charset="-122"/>
                <a:cs typeface="Segoe UI" pitchFamily="34" charset="-120"/>
              </a:rPr>
              <a:t>03</a:t>
            </a:r>
            <a:endParaRPr lang="en-US" sz="1100" dirty="0"/>
          </a:p>
        </p:txBody>
      </p:sp>
      <p:sp>
        <p:nvSpPr>
          <p:cNvPr id="14" name="Text 12"/>
          <p:cNvSpPr/>
          <p:nvPr/>
        </p:nvSpPr>
        <p:spPr>
          <a:xfrm>
            <a:off x="8427568" y="3520440"/>
            <a:ext cx="2743200" cy="914400"/>
          </a:xfrm>
          <a:prstGeom prst="rect">
            <a:avLst/>
          </a:prstGeom>
          <a:noFill/>
          <a:ln/>
        </p:spPr>
        <p:txBody>
          <a:bodyPr wrap="square" rtlCol="0" anchor="ctr"/>
          <a:lstStyle/>
          <a:p>
            <a:pPr marL="0" indent="0">
              <a:buNone/>
            </a:pPr>
            <a:r>
              <a:rPr lang="en-US" sz="2600" b="1" dirty="0">
                <a:solidFill>
                  <a:srgbClr val="0A0A0A"/>
                </a:solidFill>
                <a:latin typeface="Segoe UI" pitchFamily="34" charset="0"/>
                <a:ea typeface="Segoe UI" pitchFamily="34" charset="-122"/>
                <a:cs typeface="Segoe UI" pitchFamily="34" charset="-120"/>
              </a:rPr>
              <a:t>Internal Tools</a:t>
            </a:r>
            <a:endParaRPr lang="en-US" sz="2600" dirty="0"/>
          </a:p>
        </p:txBody>
      </p:sp>
      <p:sp>
        <p:nvSpPr>
          <p:cNvPr id="15" name="Text 13"/>
          <p:cNvSpPr/>
          <p:nvPr/>
        </p:nvSpPr>
        <p:spPr>
          <a:xfrm>
            <a:off x="8427568" y="4343400"/>
            <a:ext cx="2743200" cy="457200"/>
          </a:xfrm>
          <a:prstGeom prst="rect">
            <a:avLst/>
          </a:prstGeom>
          <a:noFill/>
          <a:ln/>
        </p:spPr>
        <p:txBody>
          <a:bodyPr wrap="square" rtlCol="0" anchor="ctr"/>
          <a:lstStyle/>
          <a:p>
            <a:pPr marL="0" indent="0">
              <a:buNone/>
            </a:pPr>
            <a:r>
              <a:rPr lang="en-US" sz="1400" dirty="0">
                <a:solidFill>
                  <a:srgbClr val="6B7280"/>
                </a:solidFill>
                <a:latin typeface="Segoe UI" pitchFamily="34" charset="0"/>
                <a:ea typeface="Segoe UI" pitchFamily="34" charset="-122"/>
                <a:cs typeface="Segoe UI" pitchFamily="34" charset="-120"/>
              </a:rPr>
              <a:t>Speed &gt; brand identity.</a:t>
            </a:r>
            <a:endParaRPr lang="en-US" sz="1400" dirty="0"/>
          </a:p>
        </p:txBody>
      </p:sp>
      <p:sp>
        <p:nvSpPr>
          <p:cNvPr id="16" name="Text 14"/>
          <p:cNvSpPr/>
          <p:nvPr/>
        </p:nvSpPr>
        <p:spPr>
          <a:xfrm>
            <a:off x="10317175" y="6400800"/>
            <a:ext cx="1188720" cy="274320"/>
          </a:xfrm>
          <a:prstGeom prst="rect">
            <a:avLst/>
          </a:prstGeom>
          <a:noFill/>
          <a:ln/>
        </p:spPr>
        <p:txBody>
          <a:bodyPr wrap="square" rtlCol="0" anchor="ctr"/>
          <a:lstStyle/>
          <a:p>
            <a:pPr marL="0" indent="0" algn="r">
              <a:buNone/>
            </a:pPr>
            <a:r>
              <a:rPr lang="en-US" sz="1000" kern="0" spc="200" dirty="0">
                <a:solidFill>
                  <a:srgbClr val="6B7280"/>
                </a:solidFill>
                <a:latin typeface="Segoe UI" pitchFamily="34" charset="0"/>
                <a:ea typeface="Segoe UI" pitchFamily="34" charset="-122"/>
                <a:cs typeface="Segoe UI" pitchFamily="34" charset="-120"/>
              </a:rPr>
              <a:t>05 / 12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rtlCol="0" anchor="ctr"/>
          <a:lstStyle/>
          <a:p>
            <a:pPr marL="0" indent="0">
              <a:buNone/>
            </a:pPr>
            <a:r>
              <a:rPr lang="en-US" sz="1100" b="1" kern="0" spc="400" dirty="0">
                <a:solidFill>
                  <a:srgbClr val="007FFF"/>
                </a:solidFill>
                <a:latin typeface="Segoe UI" pitchFamily="34" charset="0"/>
                <a:ea typeface="Segoe UI" pitchFamily="34" charset="-122"/>
                <a:cs typeface="Segoe UI" pitchFamily="34" charset="-120"/>
              </a:rPr>
              <a:t>ADVANTAGES</a:t>
            </a:r>
            <a:endParaRPr lang="en-US" sz="1100" dirty="0"/>
          </a:p>
        </p:txBody>
      </p:sp>
      <p:sp>
        <p:nvSpPr>
          <p:cNvPr id="3" name="Text 1"/>
          <p:cNvSpPr/>
          <p:nvPr/>
        </p:nvSpPr>
        <p:spPr>
          <a:xfrm>
            <a:off x="685800" y="914400"/>
            <a:ext cx="10820095" cy="914400"/>
          </a:xfrm>
          <a:prstGeom prst="rect">
            <a:avLst/>
          </a:prstGeom>
          <a:noFill/>
          <a:ln/>
        </p:spPr>
        <p:txBody>
          <a:bodyPr wrap="square" rtlCol="0" anchor="ctr"/>
          <a:lstStyle/>
          <a:p>
            <a:pPr marL="0" indent="0">
              <a:buNone/>
            </a:pPr>
            <a:r>
              <a:rPr lang="en-US" sz="4400" b="1" dirty="0">
                <a:solidFill>
                  <a:srgbClr val="0A0A0A"/>
                </a:solidFill>
                <a:latin typeface="Segoe UI" pitchFamily="34" charset="0"/>
                <a:ea typeface="Segoe UI" pitchFamily="34" charset="-122"/>
                <a:cs typeface="Segoe UI" pitchFamily="34" charset="-120"/>
              </a:rPr>
              <a:t>Why teams pick MUI.</a:t>
            </a:r>
            <a:endParaRPr lang="en-US" sz="4400" dirty="0"/>
          </a:p>
        </p:txBody>
      </p:sp>
      <p:sp>
        <p:nvSpPr>
          <p:cNvPr id="4" name="Text 2"/>
          <p:cNvSpPr/>
          <p:nvPr/>
        </p:nvSpPr>
        <p:spPr>
          <a:xfrm>
            <a:off x="685800" y="2468880"/>
            <a:ext cx="914400" cy="1051560"/>
          </a:xfrm>
          <a:prstGeom prst="rect">
            <a:avLst/>
          </a:prstGeom>
          <a:noFill/>
          <a:ln/>
        </p:spPr>
        <p:txBody>
          <a:bodyPr wrap="square" rtlCol="0" anchor="ctr"/>
          <a:lstStyle/>
          <a:p>
            <a:pPr marL="0" indent="0">
              <a:buNone/>
            </a:pPr>
            <a:r>
              <a:rPr lang="en-US" sz="2200" b="1" dirty="0">
                <a:solidFill>
                  <a:srgbClr val="007FFF"/>
                </a:solidFill>
                <a:latin typeface="Segoe UI" pitchFamily="34" charset="0"/>
                <a:ea typeface="Segoe UI" pitchFamily="34" charset="-122"/>
                <a:cs typeface="Segoe UI" pitchFamily="34" charset="-120"/>
              </a:rPr>
              <a:t>01</a:t>
            </a:r>
            <a:endParaRPr lang="en-US" sz="2200" dirty="0"/>
          </a:p>
        </p:txBody>
      </p:sp>
      <p:sp>
        <p:nvSpPr>
          <p:cNvPr id="5" name="Text 3"/>
          <p:cNvSpPr/>
          <p:nvPr/>
        </p:nvSpPr>
        <p:spPr>
          <a:xfrm>
            <a:off x="1691640" y="2468880"/>
            <a:ext cx="9814255" cy="1051560"/>
          </a:xfrm>
          <a:prstGeom prst="rect">
            <a:avLst/>
          </a:prstGeom>
          <a:noFill/>
          <a:ln/>
        </p:spPr>
        <p:txBody>
          <a:bodyPr wrap="square" rtlCol="0" anchor="ctr"/>
          <a:lstStyle/>
          <a:p>
            <a:pPr marL="0" indent="0">
              <a:buNone/>
            </a:pPr>
            <a:r>
              <a:rPr lang="en-US" sz="3600" dirty="0">
                <a:solidFill>
                  <a:srgbClr val="0A0A0A"/>
                </a:solidFill>
                <a:latin typeface="Segoe UI" pitchFamily="34" charset="0"/>
                <a:ea typeface="Segoe UI" pitchFamily="34" charset="-122"/>
                <a:cs typeface="Segoe UI" pitchFamily="34" charset="-120"/>
              </a:rPr>
              <a:t>Pre-built Components</a:t>
            </a:r>
            <a:endParaRPr lang="en-US" sz="3600" dirty="0"/>
          </a:p>
        </p:txBody>
      </p:sp>
      <p:sp>
        <p:nvSpPr>
          <p:cNvPr id="6" name="Shape 4"/>
          <p:cNvSpPr/>
          <p:nvPr/>
        </p:nvSpPr>
        <p:spPr>
          <a:xfrm>
            <a:off x="685800" y="3520440"/>
            <a:ext cx="10820095" cy="0"/>
          </a:xfrm>
          <a:prstGeom prst="line">
            <a:avLst/>
          </a:prstGeom>
          <a:noFill/>
          <a:ln w="9525">
            <a:solidFill>
              <a:srgbClr val="E5E7EB"/>
            </a:solidFill>
            <a:prstDash val="solid"/>
          </a:ln>
        </p:spPr>
        <p:txBody>
          <a:bodyPr/>
          <a:lstStyle/>
          <a:p>
            <a:endParaRPr lang="th-TH"/>
          </a:p>
        </p:txBody>
      </p:sp>
      <p:sp>
        <p:nvSpPr>
          <p:cNvPr id="7" name="Text 5"/>
          <p:cNvSpPr/>
          <p:nvPr/>
        </p:nvSpPr>
        <p:spPr>
          <a:xfrm>
            <a:off x="685800" y="3520440"/>
            <a:ext cx="914400" cy="1051560"/>
          </a:xfrm>
          <a:prstGeom prst="rect">
            <a:avLst/>
          </a:prstGeom>
          <a:noFill/>
          <a:ln/>
        </p:spPr>
        <p:txBody>
          <a:bodyPr wrap="square" rtlCol="0" anchor="ctr"/>
          <a:lstStyle/>
          <a:p>
            <a:pPr marL="0" indent="0">
              <a:buNone/>
            </a:pPr>
            <a:r>
              <a:rPr lang="en-US" sz="2200" b="1" dirty="0">
                <a:solidFill>
                  <a:srgbClr val="007FFF"/>
                </a:solidFill>
                <a:latin typeface="Segoe UI" pitchFamily="34" charset="0"/>
                <a:ea typeface="Segoe UI" pitchFamily="34" charset="-122"/>
                <a:cs typeface="Segoe UI" pitchFamily="34" charset="-120"/>
              </a:rPr>
              <a:t>02</a:t>
            </a:r>
            <a:endParaRPr lang="en-US" sz="2200" dirty="0"/>
          </a:p>
        </p:txBody>
      </p:sp>
      <p:sp>
        <p:nvSpPr>
          <p:cNvPr id="8" name="Text 6"/>
          <p:cNvSpPr/>
          <p:nvPr/>
        </p:nvSpPr>
        <p:spPr>
          <a:xfrm>
            <a:off x="1691640" y="3520440"/>
            <a:ext cx="9814255" cy="1051560"/>
          </a:xfrm>
          <a:prstGeom prst="rect">
            <a:avLst/>
          </a:prstGeom>
          <a:noFill/>
          <a:ln/>
        </p:spPr>
        <p:txBody>
          <a:bodyPr wrap="square" rtlCol="0" anchor="ctr"/>
          <a:lstStyle/>
          <a:p>
            <a:pPr marL="0" indent="0">
              <a:buNone/>
            </a:pPr>
            <a:r>
              <a:rPr lang="en-US" sz="3600" dirty="0">
                <a:solidFill>
                  <a:srgbClr val="0A0A0A"/>
                </a:solidFill>
                <a:latin typeface="Segoe UI" pitchFamily="34" charset="0"/>
                <a:ea typeface="Segoe UI" pitchFamily="34" charset="-122"/>
                <a:cs typeface="Segoe UI" pitchFamily="34" charset="-120"/>
              </a:rPr>
              <a:t>Powerful Theming API</a:t>
            </a:r>
            <a:endParaRPr lang="en-US" sz="3600" dirty="0"/>
          </a:p>
        </p:txBody>
      </p:sp>
      <p:sp>
        <p:nvSpPr>
          <p:cNvPr id="9" name="Shape 7"/>
          <p:cNvSpPr/>
          <p:nvPr/>
        </p:nvSpPr>
        <p:spPr>
          <a:xfrm>
            <a:off x="685800" y="4572000"/>
            <a:ext cx="10820095" cy="0"/>
          </a:xfrm>
          <a:prstGeom prst="line">
            <a:avLst/>
          </a:prstGeom>
          <a:noFill/>
          <a:ln w="9525">
            <a:solidFill>
              <a:srgbClr val="E5E7EB"/>
            </a:solidFill>
            <a:prstDash val="solid"/>
          </a:ln>
        </p:spPr>
        <p:txBody>
          <a:bodyPr/>
          <a:lstStyle/>
          <a:p>
            <a:endParaRPr lang="th-TH"/>
          </a:p>
        </p:txBody>
      </p:sp>
      <p:sp>
        <p:nvSpPr>
          <p:cNvPr id="10" name="Text 8"/>
          <p:cNvSpPr/>
          <p:nvPr/>
        </p:nvSpPr>
        <p:spPr>
          <a:xfrm>
            <a:off x="685800" y="4572000"/>
            <a:ext cx="914400" cy="1051560"/>
          </a:xfrm>
          <a:prstGeom prst="rect">
            <a:avLst/>
          </a:prstGeom>
          <a:noFill/>
          <a:ln/>
        </p:spPr>
        <p:txBody>
          <a:bodyPr wrap="square" rtlCol="0" anchor="ctr"/>
          <a:lstStyle/>
          <a:p>
            <a:pPr marL="0" indent="0">
              <a:buNone/>
            </a:pPr>
            <a:r>
              <a:rPr lang="en-US" sz="2200" b="1" dirty="0">
                <a:solidFill>
                  <a:srgbClr val="007FFF"/>
                </a:solidFill>
                <a:latin typeface="Segoe UI" pitchFamily="34" charset="0"/>
                <a:ea typeface="Segoe UI" pitchFamily="34" charset="-122"/>
                <a:cs typeface="Segoe UI" pitchFamily="34" charset="-120"/>
              </a:rPr>
              <a:t>03</a:t>
            </a:r>
            <a:endParaRPr lang="en-US" sz="2200" dirty="0"/>
          </a:p>
        </p:txBody>
      </p:sp>
      <p:sp>
        <p:nvSpPr>
          <p:cNvPr id="11" name="Text 9"/>
          <p:cNvSpPr/>
          <p:nvPr/>
        </p:nvSpPr>
        <p:spPr>
          <a:xfrm>
            <a:off x="1691640" y="4572000"/>
            <a:ext cx="9814255" cy="1051560"/>
          </a:xfrm>
          <a:prstGeom prst="rect">
            <a:avLst/>
          </a:prstGeom>
          <a:noFill/>
          <a:ln/>
        </p:spPr>
        <p:txBody>
          <a:bodyPr wrap="square" rtlCol="0" anchor="ctr"/>
          <a:lstStyle/>
          <a:p>
            <a:pPr marL="0" indent="0">
              <a:buNone/>
            </a:pPr>
            <a:r>
              <a:rPr lang="en-US" sz="3600" dirty="0">
                <a:solidFill>
                  <a:srgbClr val="0A0A0A"/>
                </a:solidFill>
                <a:latin typeface="Segoe UI" pitchFamily="34" charset="0"/>
                <a:ea typeface="Segoe UI" pitchFamily="34" charset="-122"/>
                <a:cs typeface="Segoe UI" pitchFamily="34" charset="-120"/>
              </a:rPr>
              <a:t>Out-of-the-box a11y</a:t>
            </a:r>
            <a:endParaRPr lang="en-US" sz="3600" dirty="0"/>
          </a:p>
        </p:txBody>
      </p:sp>
      <p:sp>
        <p:nvSpPr>
          <p:cNvPr id="12" name="Shape 10"/>
          <p:cNvSpPr/>
          <p:nvPr/>
        </p:nvSpPr>
        <p:spPr>
          <a:xfrm>
            <a:off x="685800" y="5623560"/>
            <a:ext cx="10820095" cy="0"/>
          </a:xfrm>
          <a:prstGeom prst="line">
            <a:avLst/>
          </a:prstGeom>
          <a:noFill/>
          <a:ln w="9525">
            <a:solidFill>
              <a:srgbClr val="E5E7EB"/>
            </a:solidFill>
            <a:prstDash val="solid"/>
          </a:ln>
        </p:spPr>
        <p:txBody>
          <a:bodyPr/>
          <a:lstStyle/>
          <a:p>
            <a:endParaRPr lang="th-TH"/>
          </a:p>
        </p:txBody>
      </p:sp>
      <p:sp>
        <p:nvSpPr>
          <p:cNvPr id="13" name="Text 11"/>
          <p:cNvSpPr/>
          <p:nvPr/>
        </p:nvSpPr>
        <p:spPr>
          <a:xfrm>
            <a:off x="10317175" y="6400800"/>
            <a:ext cx="1188720" cy="274320"/>
          </a:xfrm>
          <a:prstGeom prst="rect">
            <a:avLst/>
          </a:prstGeom>
          <a:noFill/>
          <a:ln/>
        </p:spPr>
        <p:txBody>
          <a:bodyPr wrap="square" rtlCol="0" anchor="ctr"/>
          <a:lstStyle/>
          <a:p>
            <a:pPr marL="0" indent="0" algn="r">
              <a:buNone/>
            </a:pPr>
            <a:r>
              <a:rPr lang="en-US" sz="1000" kern="0" spc="200" dirty="0">
                <a:solidFill>
                  <a:srgbClr val="6B7280"/>
                </a:solidFill>
                <a:latin typeface="Segoe UI" pitchFamily="34" charset="0"/>
                <a:ea typeface="Segoe UI" pitchFamily="34" charset="-122"/>
                <a:cs typeface="Segoe UI" pitchFamily="34" charset="-120"/>
              </a:rPr>
              <a:t>06 / 12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rtlCol="0" anchor="ctr"/>
          <a:lstStyle/>
          <a:p>
            <a:pPr marL="0" indent="0">
              <a:buNone/>
            </a:pPr>
            <a:r>
              <a:rPr lang="en-US" sz="1100" b="1" kern="0" spc="400" dirty="0">
                <a:solidFill>
                  <a:srgbClr val="007FFF"/>
                </a:solidFill>
                <a:latin typeface="Segoe UI" pitchFamily="34" charset="0"/>
                <a:ea typeface="Segoe UI" pitchFamily="34" charset="-122"/>
                <a:cs typeface="Segoe UI" pitchFamily="34" charset="-120"/>
              </a:rPr>
              <a:t>TRADE-OFFS</a:t>
            </a:r>
            <a:endParaRPr lang="en-US" sz="1100" dirty="0"/>
          </a:p>
        </p:txBody>
      </p:sp>
      <p:sp>
        <p:nvSpPr>
          <p:cNvPr id="3" name="Text 1"/>
          <p:cNvSpPr/>
          <p:nvPr/>
        </p:nvSpPr>
        <p:spPr>
          <a:xfrm>
            <a:off x="685800" y="914400"/>
            <a:ext cx="10820095" cy="914400"/>
          </a:xfrm>
          <a:prstGeom prst="rect">
            <a:avLst/>
          </a:prstGeom>
          <a:noFill/>
          <a:ln/>
        </p:spPr>
        <p:txBody>
          <a:bodyPr wrap="square" rtlCol="0" anchor="ctr"/>
          <a:lstStyle/>
          <a:p>
            <a:pPr marL="0" indent="0">
              <a:buNone/>
            </a:pPr>
            <a:r>
              <a:rPr lang="en-US" sz="4400" b="1" dirty="0">
                <a:solidFill>
                  <a:srgbClr val="0A0A0A"/>
                </a:solidFill>
                <a:latin typeface="Segoe UI" pitchFamily="34" charset="0"/>
                <a:ea typeface="Segoe UI" pitchFamily="34" charset="-122"/>
                <a:cs typeface="Segoe UI" pitchFamily="34" charset="-120"/>
              </a:rPr>
              <a:t>Where it costs you.</a:t>
            </a:r>
            <a:endParaRPr lang="en-US" sz="4400" dirty="0"/>
          </a:p>
        </p:txBody>
      </p:sp>
      <p:sp>
        <p:nvSpPr>
          <p:cNvPr id="4" name="Text 2"/>
          <p:cNvSpPr/>
          <p:nvPr/>
        </p:nvSpPr>
        <p:spPr>
          <a:xfrm>
            <a:off x="685800" y="2468880"/>
            <a:ext cx="914400" cy="1051560"/>
          </a:xfrm>
          <a:prstGeom prst="rect">
            <a:avLst/>
          </a:prstGeom>
          <a:noFill/>
          <a:ln/>
        </p:spPr>
        <p:txBody>
          <a:bodyPr wrap="square" rtlCol="0" anchor="ctr"/>
          <a:lstStyle/>
          <a:p>
            <a:pPr marL="0" indent="0">
              <a:buNone/>
            </a:pPr>
            <a:r>
              <a:rPr lang="en-US" sz="2200" b="1" dirty="0">
                <a:solidFill>
                  <a:srgbClr val="007FFF"/>
                </a:solidFill>
                <a:latin typeface="Segoe UI" pitchFamily="34" charset="0"/>
                <a:ea typeface="Segoe UI" pitchFamily="34" charset="-122"/>
                <a:cs typeface="Segoe UI" pitchFamily="34" charset="-120"/>
              </a:rPr>
              <a:t>01</a:t>
            </a:r>
            <a:endParaRPr lang="en-US" sz="2200" dirty="0"/>
          </a:p>
        </p:txBody>
      </p:sp>
      <p:sp>
        <p:nvSpPr>
          <p:cNvPr id="5" name="Text 3"/>
          <p:cNvSpPr/>
          <p:nvPr/>
        </p:nvSpPr>
        <p:spPr>
          <a:xfrm>
            <a:off x="1691640" y="2468880"/>
            <a:ext cx="9814255" cy="1051560"/>
          </a:xfrm>
          <a:prstGeom prst="rect">
            <a:avLst/>
          </a:prstGeom>
          <a:noFill/>
          <a:ln/>
        </p:spPr>
        <p:txBody>
          <a:bodyPr wrap="square" rtlCol="0" anchor="ctr"/>
          <a:lstStyle/>
          <a:p>
            <a:pPr marL="0" indent="0">
              <a:buNone/>
            </a:pPr>
            <a:r>
              <a:rPr lang="en-US" sz="3600" dirty="0">
                <a:solidFill>
                  <a:srgbClr val="0A0A0A"/>
                </a:solidFill>
                <a:latin typeface="Segoe UI" pitchFamily="34" charset="0"/>
                <a:ea typeface="Segoe UI" pitchFamily="34" charset="-122"/>
                <a:cs typeface="Segoe UI" pitchFamily="34" charset="-120"/>
              </a:rPr>
              <a:t>Bundle Size</a:t>
            </a:r>
            <a:endParaRPr lang="en-US" sz="3600" dirty="0"/>
          </a:p>
        </p:txBody>
      </p:sp>
      <p:sp>
        <p:nvSpPr>
          <p:cNvPr id="6" name="Shape 4"/>
          <p:cNvSpPr/>
          <p:nvPr/>
        </p:nvSpPr>
        <p:spPr>
          <a:xfrm>
            <a:off x="685800" y="3520440"/>
            <a:ext cx="10820095" cy="0"/>
          </a:xfrm>
          <a:prstGeom prst="line">
            <a:avLst/>
          </a:prstGeom>
          <a:noFill/>
          <a:ln w="9525">
            <a:solidFill>
              <a:srgbClr val="E5E7EB"/>
            </a:solidFill>
            <a:prstDash val="solid"/>
          </a:ln>
        </p:spPr>
        <p:txBody>
          <a:bodyPr/>
          <a:lstStyle/>
          <a:p>
            <a:endParaRPr lang="th-TH"/>
          </a:p>
        </p:txBody>
      </p:sp>
      <p:sp>
        <p:nvSpPr>
          <p:cNvPr id="7" name="Text 5"/>
          <p:cNvSpPr/>
          <p:nvPr/>
        </p:nvSpPr>
        <p:spPr>
          <a:xfrm>
            <a:off x="685800" y="3520440"/>
            <a:ext cx="914400" cy="1051560"/>
          </a:xfrm>
          <a:prstGeom prst="rect">
            <a:avLst/>
          </a:prstGeom>
          <a:noFill/>
          <a:ln/>
        </p:spPr>
        <p:txBody>
          <a:bodyPr wrap="square" rtlCol="0" anchor="ctr"/>
          <a:lstStyle/>
          <a:p>
            <a:pPr marL="0" indent="0">
              <a:buNone/>
            </a:pPr>
            <a:r>
              <a:rPr lang="en-US" sz="2200" b="1" dirty="0">
                <a:solidFill>
                  <a:srgbClr val="007FFF"/>
                </a:solidFill>
                <a:latin typeface="Segoe UI" pitchFamily="34" charset="0"/>
                <a:ea typeface="Segoe UI" pitchFamily="34" charset="-122"/>
                <a:cs typeface="Segoe UI" pitchFamily="34" charset="-120"/>
              </a:rPr>
              <a:t>02</a:t>
            </a:r>
            <a:endParaRPr lang="en-US" sz="2200" dirty="0"/>
          </a:p>
        </p:txBody>
      </p:sp>
      <p:sp>
        <p:nvSpPr>
          <p:cNvPr id="8" name="Text 6"/>
          <p:cNvSpPr/>
          <p:nvPr/>
        </p:nvSpPr>
        <p:spPr>
          <a:xfrm>
            <a:off x="1691640" y="3520440"/>
            <a:ext cx="9814255" cy="1051560"/>
          </a:xfrm>
          <a:prstGeom prst="rect">
            <a:avLst/>
          </a:prstGeom>
          <a:noFill/>
          <a:ln/>
        </p:spPr>
        <p:txBody>
          <a:bodyPr wrap="square" rtlCol="0" anchor="ctr"/>
          <a:lstStyle/>
          <a:p>
            <a:pPr marL="0" indent="0">
              <a:buNone/>
            </a:pPr>
            <a:r>
              <a:rPr lang="en-US" sz="3600" dirty="0">
                <a:solidFill>
                  <a:srgbClr val="0A0A0A"/>
                </a:solidFill>
                <a:latin typeface="Segoe UI" pitchFamily="34" charset="0"/>
                <a:ea typeface="Segoe UI" pitchFamily="34" charset="-122"/>
                <a:cs typeface="Segoe UI" pitchFamily="34" charset="-120"/>
              </a:rPr>
              <a:t>The 'Google' Look</a:t>
            </a:r>
            <a:endParaRPr lang="en-US" sz="3600" dirty="0"/>
          </a:p>
        </p:txBody>
      </p:sp>
      <p:sp>
        <p:nvSpPr>
          <p:cNvPr id="9" name="Shape 7"/>
          <p:cNvSpPr/>
          <p:nvPr/>
        </p:nvSpPr>
        <p:spPr>
          <a:xfrm>
            <a:off x="685800" y="4572000"/>
            <a:ext cx="10820095" cy="0"/>
          </a:xfrm>
          <a:prstGeom prst="line">
            <a:avLst/>
          </a:prstGeom>
          <a:noFill/>
          <a:ln w="9525">
            <a:solidFill>
              <a:srgbClr val="E5E7EB"/>
            </a:solidFill>
            <a:prstDash val="solid"/>
          </a:ln>
        </p:spPr>
        <p:txBody>
          <a:bodyPr/>
          <a:lstStyle/>
          <a:p>
            <a:endParaRPr lang="th-TH"/>
          </a:p>
        </p:txBody>
      </p:sp>
      <p:sp>
        <p:nvSpPr>
          <p:cNvPr id="10" name="Text 8"/>
          <p:cNvSpPr/>
          <p:nvPr/>
        </p:nvSpPr>
        <p:spPr>
          <a:xfrm>
            <a:off x="685800" y="4572000"/>
            <a:ext cx="914400" cy="1051560"/>
          </a:xfrm>
          <a:prstGeom prst="rect">
            <a:avLst/>
          </a:prstGeom>
          <a:noFill/>
          <a:ln/>
        </p:spPr>
        <p:txBody>
          <a:bodyPr wrap="square" rtlCol="0" anchor="ctr"/>
          <a:lstStyle/>
          <a:p>
            <a:pPr marL="0" indent="0">
              <a:buNone/>
            </a:pPr>
            <a:r>
              <a:rPr lang="en-US" sz="2200" b="1" dirty="0">
                <a:solidFill>
                  <a:srgbClr val="007FFF"/>
                </a:solidFill>
                <a:latin typeface="Segoe UI" pitchFamily="34" charset="0"/>
                <a:ea typeface="Segoe UI" pitchFamily="34" charset="-122"/>
                <a:cs typeface="Segoe UI" pitchFamily="34" charset="-120"/>
              </a:rPr>
              <a:t>03</a:t>
            </a:r>
            <a:endParaRPr lang="en-US" sz="2200" dirty="0"/>
          </a:p>
        </p:txBody>
      </p:sp>
      <p:sp>
        <p:nvSpPr>
          <p:cNvPr id="11" name="Text 9"/>
          <p:cNvSpPr/>
          <p:nvPr/>
        </p:nvSpPr>
        <p:spPr>
          <a:xfrm>
            <a:off x="1691640" y="4572000"/>
            <a:ext cx="9814255" cy="1051560"/>
          </a:xfrm>
          <a:prstGeom prst="rect">
            <a:avLst/>
          </a:prstGeom>
          <a:noFill/>
          <a:ln/>
        </p:spPr>
        <p:txBody>
          <a:bodyPr wrap="square" rtlCol="0" anchor="ctr"/>
          <a:lstStyle/>
          <a:p>
            <a:pPr marL="0" indent="0">
              <a:buNone/>
            </a:pPr>
            <a:r>
              <a:rPr lang="en-US" sz="3600" dirty="0">
                <a:solidFill>
                  <a:srgbClr val="0A0A0A"/>
                </a:solidFill>
                <a:latin typeface="Segoe UI" pitchFamily="34" charset="0"/>
                <a:ea typeface="Segoe UI" pitchFamily="34" charset="-122"/>
                <a:cs typeface="Segoe UI" pitchFamily="34" charset="-120"/>
              </a:rPr>
              <a:t>Customization Overhead</a:t>
            </a:r>
            <a:endParaRPr lang="en-US" sz="3600" dirty="0"/>
          </a:p>
        </p:txBody>
      </p:sp>
      <p:sp>
        <p:nvSpPr>
          <p:cNvPr id="12" name="Shape 10"/>
          <p:cNvSpPr/>
          <p:nvPr/>
        </p:nvSpPr>
        <p:spPr>
          <a:xfrm>
            <a:off x="685800" y="5623560"/>
            <a:ext cx="10820095" cy="0"/>
          </a:xfrm>
          <a:prstGeom prst="line">
            <a:avLst/>
          </a:prstGeom>
          <a:noFill/>
          <a:ln w="9525">
            <a:solidFill>
              <a:srgbClr val="E5E7EB"/>
            </a:solidFill>
            <a:prstDash val="solid"/>
          </a:ln>
        </p:spPr>
        <p:txBody>
          <a:bodyPr/>
          <a:lstStyle/>
          <a:p>
            <a:endParaRPr lang="th-TH"/>
          </a:p>
        </p:txBody>
      </p:sp>
      <p:sp>
        <p:nvSpPr>
          <p:cNvPr id="13" name="Text 11"/>
          <p:cNvSpPr/>
          <p:nvPr/>
        </p:nvSpPr>
        <p:spPr>
          <a:xfrm>
            <a:off x="10317175" y="6400800"/>
            <a:ext cx="1188720" cy="274320"/>
          </a:xfrm>
          <a:prstGeom prst="rect">
            <a:avLst/>
          </a:prstGeom>
          <a:noFill/>
          <a:ln/>
        </p:spPr>
        <p:txBody>
          <a:bodyPr wrap="square" rtlCol="0" anchor="ctr"/>
          <a:lstStyle/>
          <a:p>
            <a:pPr marL="0" indent="0" algn="r">
              <a:buNone/>
            </a:pPr>
            <a:r>
              <a:rPr lang="en-US" sz="1000" kern="0" spc="200" dirty="0">
                <a:solidFill>
                  <a:srgbClr val="6B7280"/>
                </a:solidFill>
                <a:latin typeface="Segoe UI" pitchFamily="34" charset="0"/>
                <a:ea typeface="Segoe UI" pitchFamily="34" charset="-122"/>
                <a:cs typeface="Segoe UI" pitchFamily="34" charset="-120"/>
              </a:rPr>
              <a:t>07 / 12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rtlCol="0" anchor="ctr"/>
          <a:lstStyle/>
          <a:p>
            <a:pPr marL="0" indent="0">
              <a:buNone/>
            </a:pPr>
            <a:r>
              <a:rPr lang="en-US" sz="1100" b="1" kern="0" spc="400" dirty="0">
                <a:solidFill>
                  <a:srgbClr val="007FFF"/>
                </a:solidFill>
                <a:latin typeface="Segoe UI" pitchFamily="34" charset="0"/>
                <a:ea typeface="Segoe UI" pitchFamily="34" charset="-122"/>
                <a:cs typeface="Segoe UI" pitchFamily="34" charset="-120"/>
              </a:rPr>
              <a:t>LIMITATIONS</a:t>
            </a:r>
            <a:endParaRPr lang="en-US" sz="1100" dirty="0"/>
          </a:p>
        </p:txBody>
      </p:sp>
      <p:sp>
        <p:nvSpPr>
          <p:cNvPr id="3" name="Text 1"/>
          <p:cNvSpPr/>
          <p:nvPr/>
        </p:nvSpPr>
        <p:spPr>
          <a:xfrm>
            <a:off x="685800" y="914400"/>
            <a:ext cx="10820095" cy="914400"/>
          </a:xfrm>
          <a:prstGeom prst="rect">
            <a:avLst/>
          </a:prstGeom>
          <a:noFill/>
          <a:ln/>
        </p:spPr>
        <p:txBody>
          <a:bodyPr wrap="square" rtlCol="0" anchor="ctr"/>
          <a:lstStyle/>
          <a:p>
            <a:pPr marL="0" indent="0">
              <a:buNone/>
            </a:pPr>
            <a:r>
              <a:rPr lang="en-US" sz="4400" b="1" dirty="0">
                <a:solidFill>
                  <a:srgbClr val="0A0A0A"/>
                </a:solidFill>
                <a:latin typeface="Segoe UI" pitchFamily="34" charset="0"/>
                <a:ea typeface="Segoe UI" pitchFamily="34" charset="-122"/>
                <a:cs typeface="Segoe UI" pitchFamily="34" charset="-120"/>
              </a:rPr>
              <a:t>Not the right tool for…</a:t>
            </a:r>
            <a:endParaRPr lang="en-US" sz="4400" dirty="0"/>
          </a:p>
        </p:txBody>
      </p:sp>
      <p:sp>
        <p:nvSpPr>
          <p:cNvPr id="4" name="Text 2"/>
          <p:cNvSpPr/>
          <p:nvPr/>
        </p:nvSpPr>
        <p:spPr>
          <a:xfrm>
            <a:off x="685800" y="3108960"/>
            <a:ext cx="10820095" cy="1371600"/>
          </a:xfrm>
          <a:prstGeom prst="rect">
            <a:avLst/>
          </a:prstGeom>
          <a:noFill/>
          <a:ln/>
        </p:spPr>
        <p:txBody>
          <a:bodyPr wrap="square" rtlCol="0" anchor="ctr"/>
          <a:lstStyle/>
          <a:p>
            <a:pPr marL="0" indent="0" algn="ctr">
              <a:buNone/>
            </a:pPr>
            <a:r>
              <a:rPr lang="en-US" sz="4800" b="1" dirty="0">
                <a:solidFill>
                  <a:srgbClr val="0A0A0A"/>
                </a:solidFill>
                <a:latin typeface="Segoe UI" pitchFamily="34" charset="0"/>
                <a:ea typeface="Segoe UI" pitchFamily="34" charset="-122"/>
                <a:cs typeface="Segoe UI" pitchFamily="34" charset="-120"/>
              </a:rPr>
              <a:t>Hyper-custom consumer landing pages.</a:t>
            </a:r>
            <a:endParaRPr lang="en-US" sz="4800" dirty="0"/>
          </a:p>
        </p:txBody>
      </p:sp>
      <p:sp>
        <p:nvSpPr>
          <p:cNvPr id="5" name="Shape 3"/>
          <p:cNvSpPr/>
          <p:nvPr/>
        </p:nvSpPr>
        <p:spPr>
          <a:xfrm>
            <a:off x="5638648" y="4937760"/>
            <a:ext cx="914400" cy="0"/>
          </a:xfrm>
          <a:prstGeom prst="line">
            <a:avLst/>
          </a:prstGeom>
          <a:noFill/>
          <a:ln w="25400">
            <a:solidFill>
              <a:srgbClr val="007FFF"/>
            </a:solidFill>
            <a:prstDash val="solid"/>
          </a:ln>
        </p:spPr>
        <p:txBody>
          <a:bodyPr/>
          <a:lstStyle/>
          <a:p>
            <a:endParaRPr lang="th-TH"/>
          </a:p>
        </p:txBody>
      </p:sp>
      <p:sp>
        <p:nvSpPr>
          <p:cNvPr id="6" name="Text 4"/>
          <p:cNvSpPr/>
          <p:nvPr/>
        </p:nvSpPr>
        <p:spPr>
          <a:xfrm>
            <a:off x="685800" y="5120640"/>
            <a:ext cx="10820095" cy="457200"/>
          </a:xfrm>
          <a:prstGeom prst="rect">
            <a:avLst/>
          </a:prstGeom>
          <a:noFill/>
          <a:ln/>
        </p:spPr>
        <p:txBody>
          <a:bodyPr wrap="square" rtlCol="0" anchor="ctr"/>
          <a:lstStyle/>
          <a:p>
            <a:pPr marL="0" indent="0" algn="ctr">
              <a:buNone/>
            </a:pPr>
            <a:r>
              <a:rPr lang="en-US" sz="1600" i="1" dirty="0">
                <a:solidFill>
                  <a:srgbClr val="6B7280"/>
                </a:solidFill>
                <a:latin typeface="Segoe UI" pitchFamily="34" charset="0"/>
                <a:ea typeface="Segoe UI" pitchFamily="34" charset="-122"/>
                <a:cs typeface="Segoe UI" pitchFamily="34" charset="-120"/>
              </a:rPr>
              <a:t>Reach for Tailwind, vanilla CSS, or a headless library instead.</a:t>
            </a:r>
            <a:endParaRPr lang="en-US" sz="1600" dirty="0"/>
          </a:p>
        </p:txBody>
      </p:sp>
      <p:sp>
        <p:nvSpPr>
          <p:cNvPr id="7" name="Text 5"/>
          <p:cNvSpPr/>
          <p:nvPr/>
        </p:nvSpPr>
        <p:spPr>
          <a:xfrm>
            <a:off x="10317175" y="6400800"/>
            <a:ext cx="1188720" cy="274320"/>
          </a:xfrm>
          <a:prstGeom prst="rect">
            <a:avLst/>
          </a:prstGeom>
          <a:noFill/>
          <a:ln/>
        </p:spPr>
        <p:txBody>
          <a:bodyPr wrap="square" rtlCol="0" anchor="ctr"/>
          <a:lstStyle/>
          <a:p>
            <a:pPr marL="0" indent="0" algn="r">
              <a:buNone/>
            </a:pPr>
            <a:r>
              <a:rPr lang="en-US" sz="1000" kern="0" spc="200" dirty="0">
                <a:solidFill>
                  <a:srgbClr val="6B7280"/>
                </a:solidFill>
                <a:latin typeface="Segoe UI" pitchFamily="34" charset="0"/>
                <a:ea typeface="Segoe UI" pitchFamily="34" charset="-122"/>
                <a:cs typeface="Segoe UI" pitchFamily="34" charset="-120"/>
              </a:rPr>
              <a:t>08 / 12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rtlCol="0" anchor="ctr"/>
          <a:lstStyle/>
          <a:p>
            <a:pPr marL="0" indent="0">
              <a:buNone/>
            </a:pPr>
            <a:r>
              <a:rPr lang="en-US" sz="1100" b="1" kern="0" spc="400" dirty="0">
                <a:solidFill>
                  <a:srgbClr val="007FFF"/>
                </a:solidFill>
                <a:latin typeface="Segoe UI" pitchFamily="34" charset="0"/>
                <a:ea typeface="Segoe UI" pitchFamily="34" charset="-122"/>
                <a:cs typeface="Segoe UI" pitchFamily="34" charset="-120"/>
              </a:rPr>
              <a:t>IMPLEMENTATION</a:t>
            </a:r>
            <a:endParaRPr lang="en-US" sz="1100" dirty="0"/>
          </a:p>
        </p:txBody>
      </p:sp>
      <p:sp>
        <p:nvSpPr>
          <p:cNvPr id="3" name="Text 1"/>
          <p:cNvSpPr/>
          <p:nvPr/>
        </p:nvSpPr>
        <p:spPr>
          <a:xfrm>
            <a:off x="685800" y="914400"/>
            <a:ext cx="10820095" cy="914400"/>
          </a:xfrm>
          <a:prstGeom prst="rect">
            <a:avLst/>
          </a:prstGeom>
          <a:noFill/>
          <a:ln/>
        </p:spPr>
        <p:txBody>
          <a:bodyPr wrap="square" rtlCol="0" anchor="ctr"/>
          <a:lstStyle/>
          <a:p>
            <a:pPr marL="0" indent="0">
              <a:buNone/>
            </a:pPr>
            <a:r>
              <a:rPr lang="en-US" sz="4400" b="1" dirty="0">
                <a:solidFill>
                  <a:srgbClr val="0A0A0A"/>
                </a:solidFill>
                <a:latin typeface="Segoe UI" pitchFamily="34" charset="0"/>
                <a:ea typeface="Segoe UI" pitchFamily="34" charset="-122"/>
                <a:cs typeface="Segoe UI" pitchFamily="34" charset="-120"/>
              </a:rPr>
              <a:t>From boilerplate to one line.</a:t>
            </a:r>
            <a:endParaRPr lang="en-US" sz="4400" dirty="0"/>
          </a:p>
        </p:txBody>
      </p:sp>
      <p:sp>
        <p:nvSpPr>
          <p:cNvPr id="4" name="Text 2"/>
          <p:cNvSpPr/>
          <p:nvPr/>
        </p:nvSpPr>
        <p:spPr>
          <a:xfrm>
            <a:off x="685800" y="1828800"/>
            <a:ext cx="5181448" cy="365760"/>
          </a:xfrm>
          <a:prstGeom prst="rect">
            <a:avLst/>
          </a:prstGeom>
          <a:noFill/>
          <a:ln/>
        </p:spPr>
        <p:txBody>
          <a:bodyPr wrap="square" rtlCol="0" anchor="ctr"/>
          <a:lstStyle/>
          <a:p>
            <a:pPr marL="0" indent="0">
              <a:buNone/>
            </a:pPr>
            <a:r>
              <a:rPr lang="en-US" sz="1300" b="1" kern="0" spc="300" dirty="0">
                <a:solidFill>
                  <a:srgbClr val="6B7280"/>
                </a:solidFill>
                <a:latin typeface="Segoe UI" pitchFamily="34" charset="0"/>
                <a:ea typeface="Segoe UI" pitchFamily="34" charset="-122"/>
                <a:cs typeface="Segoe UI" pitchFamily="34" charset="-120"/>
              </a:rPr>
              <a:t>Without MUI</a:t>
            </a:r>
            <a:endParaRPr lang="en-US" sz="1300" dirty="0"/>
          </a:p>
        </p:txBody>
      </p:sp>
      <p:sp>
        <p:nvSpPr>
          <p:cNvPr id="5" name="Shape 3"/>
          <p:cNvSpPr/>
          <p:nvPr/>
        </p:nvSpPr>
        <p:spPr>
          <a:xfrm>
            <a:off x="685800" y="2286000"/>
            <a:ext cx="5181448" cy="3657600"/>
          </a:xfrm>
          <a:prstGeom prst="roundRect">
            <a:avLst>
              <a:gd name="adj" fmla="val 2000"/>
            </a:avLst>
          </a:prstGeom>
          <a:solidFill>
            <a:srgbClr val="0F172A"/>
          </a:solidFill>
          <a:ln w="12700">
            <a:solidFill>
              <a:srgbClr val="0F172A"/>
            </a:solidFill>
            <a:prstDash val="solid"/>
          </a:ln>
        </p:spPr>
        <p:txBody>
          <a:bodyPr/>
          <a:lstStyle/>
          <a:p>
            <a:endParaRPr lang="th-TH"/>
          </a:p>
        </p:txBody>
      </p:sp>
      <p:sp>
        <p:nvSpPr>
          <p:cNvPr id="6" name="Text 4"/>
          <p:cNvSpPr/>
          <p:nvPr/>
        </p:nvSpPr>
        <p:spPr>
          <a:xfrm>
            <a:off x="914400" y="2468880"/>
            <a:ext cx="4724248" cy="3291840"/>
          </a:xfrm>
          <a:prstGeom prst="rect">
            <a:avLst/>
          </a:prstGeom>
          <a:noFill/>
          <a:ln/>
        </p:spPr>
        <p:txBody>
          <a:bodyPr wrap="square" rtlCol="0" anchor="ctr"/>
          <a:lstStyle/>
          <a:p>
            <a:pPr marL="0" indent="0">
              <a:buNone/>
            </a:pPr>
            <a:r>
              <a:rPr lang="en-US" sz="1200" dirty="0">
                <a:solidFill>
                  <a:srgbClr val="F472B6"/>
                </a:solidFill>
                <a:latin typeface="Consolas" pitchFamily="34" charset="0"/>
                <a:ea typeface="Consolas" pitchFamily="34" charset="-122"/>
                <a:cs typeface="Consolas" pitchFamily="34" charset="-120"/>
              </a:rPr>
              <a:t>.btn </a:t>
            </a: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60A5FA"/>
                </a:solidFill>
                <a:latin typeface="Consolas" pitchFamily="34" charset="0"/>
                <a:ea typeface="Consolas" pitchFamily="34" charset="-122"/>
                <a:cs typeface="Consolas" pitchFamily="34" charset="-120"/>
              </a:rPr>
              <a:t>  background: </a:t>
            </a:r>
            <a:r>
              <a:rPr lang="en-US" sz="1200" dirty="0">
                <a:solidFill>
                  <a:srgbClr val="86EFAC"/>
                </a:solidFill>
                <a:latin typeface="Consolas" pitchFamily="34" charset="0"/>
                <a:ea typeface="Consolas" pitchFamily="34" charset="-122"/>
                <a:cs typeface="Consolas" pitchFamily="34" charset="-120"/>
              </a:rPr>
              <a:t>#1976d2</a:t>
            </a: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60A5FA"/>
                </a:solidFill>
                <a:latin typeface="Consolas" pitchFamily="34" charset="0"/>
                <a:ea typeface="Consolas" pitchFamily="34" charset="-122"/>
                <a:cs typeface="Consolas" pitchFamily="34" charset="-120"/>
              </a:rPr>
              <a:t>  color: </a:t>
            </a:r>
            <a:r>
              <a:rPr lang="en-US" sz="1200" dirty="0">
                <a:solidFill>
                  <a:srgbClr val="86EFAC"/>
                </a:solidFill>
                <a:latin typeface="Consolas" pitchFamily="34" charset="0"/>
                <a:ea typeface="Consolas" pitchFamily="34" charset="-122"/>
                <a:cs typeface="Consolas" pitchFamily="34" charset="-120"/>
              </a:rPr>
              <a:t>#fff</a:t>
            </a: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60A5FA"/>
                </a:solidFill>
                <a:latin typeface="Consolas" pitchFamily="34" charset="0"/>
                <a:ea typeface="Consolas" pitchFamily="34" charset="-122"/>
                <a:cs typeface="Consolas" pitchFamily="34" charset="-120"/>
              </a:rPr>
              <a:t>  padding: </a:t>
            </a:r>
            <a:r>
              <a:rPr lang="en-US" sz="1200" dirty="0">
                <a:solidFill>
                  <a:srgbClr val="FBBF24"/>
                </a:solidFill>
                <a:latin typeface="Consolas" pitchFamily="34" charset="0"/>
                <a:ea typeface="Consolas" pitchFamily="34" charset="-122"/>
                <a:cs typeface="Consolas" pitchFamily="34" charset="-120"/>
              </a:rPr>
              <a:t>8px 22px</a:t>
            </a: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60A5FA"/>
                </a:solidFill>
                <a:latin typeface="Consolas" pitchFamily="34" charset="0"/>
                <a:ea typeface="Consolas" pitchFamily="34" charset="-122"/>
                <a:cs typeface="Consolas" pitchFamily="34" charset="-120"/>
              </a:rPr>
              <a:t>  border: </a:t>
            </a:r>
            <a:r>
              <a:rPr lang="en-US" sz="1200" dirty="0">
                <a:solidFill>
                  <a:srgbClr val="F472B6"/>
                </a:solidFill>
                <a:latin typeface="Consolas" pitchFamily="34" charset="0"/>
                <a:ea typeface="Consolas" pitchFamily="34" charset="-122"/>
                <a:cs typeface="Consolas" pitchFamily="34" charset="-120"/>
              </a:rPr>
              <a:t>none</a:t>
            </a: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60A5FA"/>
                </a:solidFill>
                <a:latin typeface="Consolas" pitchFamily="34" charset="0"/>
                <a:ea typeface="Consolas" pitchFamily="34" charset="-122"/>
                <a:cs typeface="Consolas" pitchFamily="34" charset="-120"/>
              </a:rPr>
              <a:t>  border-radius: </a:t>
            </a:r>
            <a:r>
              <a:rPr lang="en-US" sz="1200" dirty="0">
                <a:solidFill>
                  <a:srgbClr val="FBBF24"/>
                </a:solidFill>
                <a:latin typeface="Consolas" pitchFamily="34" charset="0"/>
                <a:ea typeface="Consolas" pitchFamily="34" charset="-122"/>
                <a:cs typeface="Consolas" pitchFamily="34" charset="-120"/>
              </a:rPr>
              <a:t>4px</a:t>
            </a: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60A5FA"/>
                </a:solidFill>
                <a:latin typeface="Consolas" pitchFamily="34" charset="0"/>
                <a:ea typeface="Consolas" pitchFamily="34" charset="-122"/>
                <a:cs typeface="Consolas" pitchFamily="34" charset="-120"/>
              </a:rPr>
              <a:t>  cursor: </a:t>
            </a:r>
            <a:r>
              <a:rPr lang="en-US" sz="1200" dirty="0">
                <a:solidFill>
                  <a:srgbClr val="F472B6"/>
                </a:solidFill>
                <a:latin typeface="Consolas" pitchFamily="34" charset="0"/>
                <a:ea typeface="Consolas" pitchFamily="34" charset="-122"/>
                <a:cs typeface="Consolas" pitchFamily="34" charset="-120"/>
              </a:rPr>
              <a:t>pointer</a:t>
            </a: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60A5FA"/>
                </a:solidFill>
                <a:latin typeface="Consolas" pitchFamily="34" charset="0"/>
                <a:ea typeface="Consolas" pitchFamily="34" charset="-122"/>
                <a:cs typeface="Consolas" pitchFamily="34" charset="-120"/>
              </a:rPr>
              <a:t>  transition: </a:t>
            </a:r>
            <a:r>
              <a:rPr lang="en-US" sz="1200" dirty="0">
                <a:solidFill>
                  <a:srgbClr val="86EFAC"/>
                </a:solidFill>
                <a:latin typeface="Consolas" pitchFamily="34" charset="0"/>
                <a:ea typeface="Consolas" pitchFamily="34" charset="-122"/>
                <a:cs typeface="Consolas" pitchFamily="34" charset="-120"/>
              </a:rPr>
              <a:t>background .2s</a:t>
            </a: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F472B6"/>
                </a:solidFill>
                <a:latin typeface="Consolas" pitchFamily="34" charset="0"/>
                <a:ea typeface="Consolas" pitchFamily="34" charset="-122"/>
                <a:cs typeface="Consolas" pitchFamily="34" charset="-120"/>
              </a:rPr>
              <a:t>.btn:hover </a:t>
            </a:r>
            <a:r>
              <a:rPr lang="en-US" sz="1200" dirty="0">
                <a:solidFill>
                  <a:srgbClr val="E2E8F0"/>
                </a:solidFill>
                <a:latin typeface="Consolas" pitchFamily="34" charset="0"/>
                <a:ea typeface="Consolas" pitchFamily="34" charset="-122"/>
                <a:cs typeface="Consolas" pitchFamily="34" charset="-120"/>
              </a:rPr>
              <a:t>{ background: </a:t>
            </a:r>
            <a:r>
              <a:rPr lang="en-US" sz="1200" dirty="0">
                <a:solidFill>
                  <a:srgbClr val="86EFAC"/>
                </a:solidFill>
                <a:latin typeface="Consolas" pitchFamily="34" charset="0"/>
                <a:ea typeface="Consolas" pitchFamily="34" charset="-122"/>
                <a:cs typeface="Consolas" pitchFamily="34" charset="-120"/>
              </a:rPr>
              <a:t>#1565c0</a:t>
            </a:r>
            <a:r>
              <a:rPr lang="en-US" sz="1200" dirty="0">
                <a:solidFill>
                  <a:srgbClr val="E2E8F0"/>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F472B6"/>
                </a:solidFill>
                <a:latin typeface="Consolas" pitchFamily="34" charset="0"/>
                <a:ea typeface="Consolas" pitchFamily="34" charset="-122"/>
                <a:cs typeface="Consolas" pitchFamily="34" charset="-120"/>
              </a:rPr>
              <a:t>.btn:focus-visible </a:t>
            </a:r>
            <a:r>
              <a:rPr lang="en-US" sz="1200" dirty="0">
                <a:solidFill>
                  <a:srgbClr val="E2E8F0"/>
                </a:solidFill>
                <a:latin typeface="Consolas" pitchFamily="34" charset="0"/>
                <a:ea typeface="Consolas" pitchFamily="34" charset="-122"/>
                <a:cs typeface="Consolas" pitchFamily="34" charset="-120"/>
              </a:rPr>
              <a:t>{ outline: </a:t>
            </a:r>
            <a:r>
              <a:rPr lang="en-US" sz="1200" dirty="0">
                <a:solidFill>
                  <a:srgbClr val="86EFAC"/>
                </a:solidFill>
                <a:latin typeface="Consolas" pitchFamily="34" charset="0"/>
                <a:ea typeface="Consolas" pitchFamily="34" charset="-122"/>
                <a:cs typeface="Consolas" pitchFamily="34" charset="-120"/>
              </a:rPr>
              <a:t>2px solid #1976d2</a:t>
            </a:r>
            <a:r>
              <a:rPr lang="en-US" sz="1200" dirty="0">
                <a:solidFill>
                  <a:srgbClr val="E2E8F0"/>
                </a:solidFill>
                <a:latin typeface="Consolas" pitchFamily="34" charset="0"/>
                <a:ea typeface="Consolas" pitchFamily="34" charset="-122"/>
                <a:cs typeface="Consolas" pitchFamily="34" charset="-120"/>
              </a:rPr>
              <a:t>; }</a:t>
            </a:r>
            <a:endParaRPr lang="en-US" sz="1200" dirty="0"/>
          </a:p>
          <a:p>
            <a:pPr marL="0" indent="0">
              <a:buNone/>
            </a:pPr>
            <a:endParaRPr lang="en-US" sz="1200" dirty="0"/>
          </a:p>
          <a:p>
            <a:pPr marL="0" indent="0">
              <a:buNone/>
            </a:pPr>
            <a:r>
              <a:rPr lang="en-US" sz="1200" dirty="0">
                <a:solidFill>
                  <a:srgbClr val="E2E8F0"/>
                </a:solidFill>
                <a:latin typeface="Consolas" pitchFamily="34" charset="0"/>
                <a:ea typeface="Consolas" pitchFamily="34" charset="-122"/>
                <a:cs typeface="Consolas" pitchFamily="34" charset="-120"/>
              </a:rPr>
              <a:t>&lt;</a:t>
            </a:r>
            <a:r>
              <a:rPr lang="en-US" sz="1200" dirty="0">
                <a:solidFill>
                  <a:srgbClr val="F472B6"/>
                </a:solidFill>
                <a:latin typeface="Consolas" pitchFamily="34" charset="0"/>
                <a:ea typeface="Consolas" pitchFamily="34" charset="-122"/>
                <a:cs typeface="Consolas" pitchFamily="34" charset="-120"/>
              </a:rPr>
              <a:t>button</a:t>
            </a:r>
            <a:r>
              <a:rPr lang="en-US" sz="1200" dirty="0">
                <a:solidFill>
                  <a:srgbClr val="E2E8F0"/>
                </a:solidFill>
                <a:latin typeface="Consolas" pitchFamily="34" charset="0"/>
                <a:ea typeface="Consolas" pitchFamily="34" charset="-122"/>
                <a:cs typeface="Consolas" pitchFamily="34" charset="-120"/>
              </a:rPr>
              <a:t> class=</a:t>
            </a:r>
            <a:r>
              <a:rPr lang="en-US" sz="1200" dirty="0">
                <a:solidFill>
                  <a:srgbClr val="86EFAC"/>
                </a:solidFill>
                <a:latin typeface="Consolas" pitchFamily="34" charset="0"/>
                <a:ea typeface="Consolas" pitchFamily="34" charset="-122"/>
                <a:cs typeface="Consolas" pitchFamily="34" charset="-120"/>
              </a:rPr>
              <a:t>"btn"</a:t>
            </a:r>
            <a:r>
              <a:rPr lang="en-US" sz="1200" dirty="0">
                <a:solidFill>
                  <a:srgbClr val="E2E8F0"/>
                </a:solidFill>
                <a:latin typeface="Consolas" pitchFamily="34" charset="0"/>
                <a:ea typeface="Consolas" pitchFamily="34" charset="-122"/>
                <a:cs typeface="Consolas" pitchFamily="34" charset="-120"/>
              </a:rPr>
              <a:t>&gt;Click Me&lt;/</a:t>
            </a:r>
            <a:r>
              <a:rPr lang="en-US" sz="1200" dirty="0">
                <a:solidFill>
                  <a:srgbClr val="F472B6"/>
                </a:solidFill>
                <a:latin typeface="Consolas" pitchFamily="34" charset="0"/>
                <a:ea typeface="Consolas" pitchFamily="34" charset="-122"/>
                <a:cs typeface="Consolas" pitchFamily="34" charset="-120"/>
              </a:rPr>
              <a:t>button</a:t>
            </a:r>
            <a:r>
              <a:rPr lang="en-US" sz="1200" dirty="0">
                <a:solidFill>
                  <a:srgbClr val="E2E8F0"/>
                </a:solidFill>
                <a:latin typeface="Consolas" pitchFamily="34" charset="0"/>
                <a:ea typeface="Consolas" pitchFamily="34" charset="-122"/>
                <a:cs typeface="Consolas" pitchFamily="34" charset="-120"/>
              </a:rPr>
              <a:t>&gt;</a:t>
            </a:r>
            <a:endParaRPr lang="en-US" sz="1200" dirty="0"/>
          </a:p>
        </p:txBody>
      </p:sp>
      <p:sp>
        <p:nvSpPr>
          <p:cNvPr id="7" name="Text 5"/>
          <p:cNvSpPr/>
          <p:nvPr/>
        </p:nvSpPr>
        <p:spPr>
          <a:xfrm>
            <a:off x="685800" y="6035040"/>
            <a:ext cx="5181448" cy="320040"/>
          </a:xfrm>
          <a:prstGeom prst="rect">
            <a:avLst/>
          </a:prstGeom>
          <a:noFill/>
          <a:ln/>
        </p:spPr>
        <p:txBody>
          <a:bodyPr wrap="square" rtlCol="0" anchor="ctr"/>
          <a:lstStyle/>
          <a:p>
            <a:pPr marL="0" indent="0">
              <a:buNone/>
            </a:pPr>
            <a:r>
              <a:rPr lang="en-US" sz="1100" i="1" dirty="0">
                <a:solidFill>
                  <a:srgbClr val="6B7280"/>
                </a:solidFill>
                <a:latin typeface="Segoe UI" pitchFamily="34" charset="0"/>
                <a:ea typeface="Segoe UI" pitchFamily="34" charset="-122"/>
                <a:cs typeface="Segoe UI" pitchFamily="34" charset="-120"/>
              </a:rPr>
              <a:t>~30 lines · custom CSS · no a11y guarantees</a:t>
            </a:r>
            <a:endParaRPr lang="en-US" sz="1100" dirty="0"/>
          </a:p>
        </p:txBody>
      </p:sp>
      <p:sp>
        <p:nvSpPr>
          <p:cNvPr id="8" name="Text 6"/>
          <p:cNvSpPr/>
          <p:nvPr/>
        </p:nvSpPr>
        <p:spPr>
          <a:xfrm>
            <a:off x="6324448" y="1828800"/>
            <a:ext cx="5181448" cy="365760"/>
          </a:xfrm>
          <a:prstGeom prst="rect">
            <a:avLst/>
          </a:prstGeom>
          <a:noFill/>
          <a:ln/>
        </p:spPr>
        <p:txBody>
          <a:bodyPr wrap="square" rtlCol="0" anchor="ctr"/>
          <a:lstStyle/>
          <a:p>
            <a:pPr marL="0" indent="0">
              <a:buNone/>
            </a:pPr>
            <a:r>
              <a:rPr lang="en-US" sz="1300" b="1" kern="0" spc="300" dirty="0">
                <a:solidFill>
                  <a:srgbClr val="007FFF"/>
                </a:solidFill>
                <a:latin typeface="Segoe UI" pitchFamily="34" charset="0"/>
                <a:ea typeface="Segoe UI" pitchFamily="34" charset="-122"/>
                <a:cs typeface="Segoe UI" pitchFamily="34" charset="-120"/>
              </a:rPr>
              <a:t>With MUI</a:t>
            </a:r>
            <a:endParaRPr lang="en-US" sz="1300" dirty="0"/>
          </a:p>
        </p:txBody>
      </p:sp>
      <p:sp>
        <p:nvSpPr>
          <p:cNvPr id="9" name="Shape 7"/>
          <p:cNvSpPr/>
          <p:nvPr/>
        </p:nvSpPr>
        <p:spPr>
          <a:xfrm>
            <a:off x="6324448" y="2286000"/>
            <a:ext cx="5181448" cy="3657600"/>
          </a:xfrm>
          <a:prstGeom prst="roundRect">
            <a:avLst>
              <a:gd name="adj" fmla="val 2000"/>
            </a:avLst>
          </a:prstGeom>
          <a:solidFill>
            <a:srgbClr val="0F172A"/>
          </a:solidFill>
          <a:ln w="12700">
            <a:solidFill>
              <a:srgbClr val="0F172A"/>
            </a:solidFill>
            <a:prstDash val="solid"/>
          </a:ln>
        </p:spPr>
        <p:txBody>
          <a:bodyPr/>
          <a:lstStyle/>
          <a:p>
            <a:endParaRPr lang="th-TH"/>
          </a:p>
        </p:txBody>
      </p:sp>
      <p:sp>
        <p:nvSpPr>
          <p:cNvPr id="10" name="Text 8"/>
          <p:cNvSpPr/>
          <p:nvPr/>
        </p:nvSpPr>
        <p:spPr>
          <a:xfrm>
            <a:off x="6553048" y="2651760"/>
            <a:ext cx="4724248" cy="2926080"/>
          </a:xfrm>
          <a:prstGeom prst="rect">
            <a:avLst/>
          </a:prstGeom>
          <a:noFill/>
          <a:ln/>
        </p:spPr>
        <p:txBody>
          <a:bodyPr wrap="square" rtlCol="0" anchor="ctr"/>
          <a:lstStyle/>
          <a:p>
            <a:pPr marL="0" indent="0">
              <a:buNone/>
            </a:pPr>
            <a:r>
              <a:rPr lang="en-US" sz="1600" dirty="0">
                <a:solidFill>
                  <a:srgbClr val="F472B6"/>
                </a:solidFill>
                <a:latin typeface="Consolas" pitchFamily="34" charset="0"/>
                <a:ea typeface="Consolas" pitchFamily="34" charset="-122"/>
                <a:cs typeface="Consolas" pitchFamily="34" charset="-120"/>
              </a:rPr>
              <a:t>import </a:t>
            </a:r>
            <a:r>
              <a:rPr lang="en-US" sz="1600" dirty="0">
                <a:solidFill>
                  <a:srgbClr val="E2E8F0"/>
                </a:solidFill>
                <a:latin typeface="Consolas" pitchFamily="34" charset="0"/>
                <a:ea typeface="Consolas" pitchFamily="34" charset="-122"/>
                <a:cs typeface="Consolas" pitchFamily="34" charset="-120"/>
              </a:rPr>
              <a:t>{ Button } </a:t>
            </a:r>
            <a:r>
              <a:rPr lang="en-US" sz="1600" dirty="0">
                <a:solidFill>
                  <a:srgbClr val="F472B6"/>
                </a:solidFill>
                <a:latin typeface="Consolas" pitchFamily="34" charset="0"/>
                <a:ea typeface="Consolas" pitchFamily="34" charset="-122"/>
                <a:cs typeface="Consolas" pitchFamily="34" charset="-120"/>
              </a:rPr>
              <a:t>from </a:t>
            </a:r>
            <a:r>
              <a:rPr lang="en-US" sz="1600" dirty="0">
                <a:solidFill>
                  <a:srgbClr val="86EFAC"/>
                </a:solidFill>
                <a:latin typeface="Consolas" pitchFamily="34" charset="0"/>
                <a:ea typeface="Consolas" pitchFamily="34" charset="-122"/>
                <a:cs typeface="Consolas" pitchFamily="34" charset="-120"/>
              </a:rPr>
              <a:t>'@mui/material'</a:t>
            </a:r>
            <a:r>
              <a:rPr lang="en-US" sz="1600" dirty="0">
                <a:solidFill>
                  <a:srgbClr val="E2E8F0"/>
                </a:solidFill>
                <a:latin typeface="Consolas" pitchFamily="34" charset="0"/>
                <a:ea typeface="Consolas" pitchFamily="34" charset="-122"/>
                <a:cs typeface="Consolas" pitchFamily="34" charset="-120"/>
              </a:rPr>
              <a:t>;</a:t>
            </a:r>
            <a:endParaRPr lang="en-US" sz="1600" dirty="0"/>
          </a:p>
          <a:p>
            <a:pPr marL="0" indent="0">
              <a:buNone/>
            </a:pPr>
            <a:endParaRPr lang="en-US" sz="1600" dirty="0"/>
          </a:p>
          <a:p>
            <a:pPr marL="0" indent="0">
              <a:buNone/>
            </a:pPr>
            <a:r>
              <a:rPr lang="en-US" sz="1600" dirty="0">
                <a:solidFill>
                  <a:srgbClr val="E2E8F0"/>
                </a:solidFill>
                <a:latin typeface="Consolas" pitchFamily="34" charset="0"/>
                <a:ea typeface="Consolas" pitchFamily="34" charset="-122"/>
                <a:cs typeface="Consolas" pitchFamily="34" charset="-120"/>
              </a:rPr>
              <a:t>&lt;</a:t>
            </a:r>
            <a:r>
              <a:rPr lang="en-US" sz="1600" dirty="0">
                <a:solidFill>
                  <a:srgbClr val="F472B6"/>
                </a:solidFill>
                <a:latin typeface="Consolas" pitchFamily="34" charset="0"/>
                <a:ea typeface="Consolas" pitchFamily="34" charset="-122"/>
                <a:cs typeface="Consolas" pitchFamily="34" charset="-120"/>
              </a:rPr>
              <a:t>Button </a:t>
            </a:r>
            <a:r>
              <a:rPr lang="en-US" sz="1600" dirty="0">
                <a:solidFill>
                  <a:srgbClr val="60A5FA"/>
                </a:solidFill>
                <a:latin typeface="Consolas" pitchFamily="34" charset="0"/>
                <a:ea typeface="Consolas" pitchFamily="34" charset="-122"/>
                <a:cs typeface="Consolas" pitchFamily="34" charset="-120"/>
              </a:rPr>
              <a:t>variant</a:t>
            </a:r>
            <a:r>
              <a:rPr lang="en-US" sz="1600" dirty="0">
                <a:solidFill>
                  <a:srgbClr val="E2E8F0"/>
                </a:solidFill>
                <a:latin typeface="Consolas" pitchFamily="34" charset="0"/>
                <a:ea typeface="Consolas" pitchFamily="34" charset="-122"/>
                <a:cs typeface="Consolas" pitchFamily="34" charset="-120"/>
              </a:rPr>
              <a:t>=</a:t>
            </a:r>
            <a:r>
              <a:rPr lang="en-US" sz="1600" dirty="0">
                <a:solidFill>
                  <a:srgbClr val="86EFAC"/>
                </a:solidFill>
                <a:latin typeface="Consolas" pitchFamily="34" charset="0"/>
                <a:ea typeface="Consolas" pitchFamily="34" charset="-122"/>
                <a:cs typeface="Consolas" pitchFamily="34" charset="-120"/>
              </a:rPr>
              <a:t>"contained"</a:t>
            </a:r>
            <a:r>
              <a:rPr lang="en-US" sz="1600" dirty="0">
                <a:solidFill>
                  <a:srgbClr val="E2E8F0"/>
                </a:solidFill>
                <a:latin typeface="Consolas" pitchFamily="34" charset="0"/>
                <a:ea typeface="Consolas" pitchFamily="34" charset="-122"/>
                <a:cs typeface="Consolas" pitchFamily="34" charset="-120"/>
              </a:rPr>
              <a:t> </a:t>
            </a:r>
            <a:r>
              <a:rPr lang="en-US" sz="1600" dirty="0">
                <a:solidFill>
                  <a:srgbClr val="60A5FA"/>
                </a:solidFill>
                <a:latin typeface="Consolas" pitchFamily="34" charset="0"/>
                <a:ea typeface="Consolas" pitchFamily="34" charset="-122"/>
                <a:cs typeface="Consolas" pitchFamily="34" charset="-120"/>
              </a:rPr>
              <a:t>color</a:t>
            </a:r>
            <a:r>
              <a:rPr lang="en-US" sz="1600" dirty="0">
                <a:solidFill>
                  <a:srgbClr val="E2E8F0"/>
                </a:solidFill>
                <a:latin typeface="Consolas" pitchFamily="34" charset="0"/>
                <a:ea typeface="Consolas" pitchFamily="34" charset="-122"/>
                <a:cs typeface="Consolas" pitchFamily="34" charset="-120"/>
              </a:rPr>
              <a:t>=</a:t>
            </a:r>
            <a:r>
              <a:rPr lang="en-US" sz="1600" dirty="0">
                <a:solidFill>
                  <a:srgbClr val="86EFAC"/>
                </a:solidFill>
                <a:latin typeface="Consolas" pitchFamily="34" charset="0"/>
                <a:ea typeface="Consolas" pitchFamily="34" charset="-122"/>
                <a:cs typeface="Consolas" pitchFamily="34" charset="-120"/>
              </a:rPr>
              <a:t>"primary"</a:t>
            </a:r>
            <a:r>
              <a:rPr lang="en-US" sz="1600" dirty="0">
                <a:solidFill>
                  <a:srgbClr val="E2E8F0"/>
                </a:solidFill>
                <a:latin typeface="Consolas" pitchFamily="34" charset="0"/>
                <a:ea typeface="Consolas" pitchFamily="34" charset="-122"/>
                <a:cs typeface="Consolas" pitchFamily="34" charset="-120"/>
              </a:rPr>
              <a:t>&gt;</a:t>
            </a:r>
            <a:endParaRPr lang="en-US" sz="1600" dirty="0"/>
          </a:p>
          <a:p>
            <a:pPr marL="0" indent="0">
              <a:buNone/>
            </a:pPr>
            <a:r>
              <a:rPr lang="en-US" sz="1600" dirty="0">
                <a:solidFill>
                  <a:srgbClr val="E2E8F0"/>
                </a:solidFill>
                <a:latin typeface="Consolas" pitchFamily="34" charset="0"/>
                <a:ea typeface="Consolas" pitchFamily="34" charset="-122"/>
                <a:cs typeface="Consolas" pitchFamily="34" charset="-120"/>
              </a:rPr>
              <a:t>  Click Me</a:t>
            </a:r>
            <a:endParaRPr lang="en-US" sz="1600" dirty="0"/>
          </a:p>
          <a:p>
            <a:pPr marL="0" indent="0">
              <a:buNone/>
            </a:pPr>
            <a:r>
              <a:rPr lang="en-US" sz="1600" dirty="0">
                <a:solidFill>
                  <a:srgbClr val="E2E8F0"/>
                </a:solidFill>
                <a:latin typeface="Consolas" pitchFamily="34" charset="0"/>
                <a:ea typeface="Consolas" pitchFamily="34" charset="-122"/>
                <a:cs typeface="Consolas" pitchFamily="34" charset="-120"/>
              </a:rPr>
              <a:t>&lt;/</a:t>
            </a:r>
            <a:r>
              <a:rPr lang="en-US" sz="1600" dirty="0">
                <a:solidFill>
                  <a:srgbClr val="F472B6"/>
                </a:solidFill>
                <a:latin typeface="Consolas" pitchFamily="34" charset="0"/>
                <a:ea typeface="Consolas" pitchFamily="34" charset="-122"/>
                <a:cs typeface="Consolas" pitchFamily="34" charset="-120"/>
              </a:rPr>
              <a:t>Button</a:t>
            </a:r>
            <a:r>
              <a:rPr lang="en-US" sz="1600" dirty="0">
                <a:solidFill>
                  <a:srgbClr val="E2E8F0"/>
                </a:solidFill>
                <a:latin typeface="Consolas" pitchFamily="34" charset="0"/>
                <a:ea typeface="Consolas" pitchFamily="34" charset="-122"/>
                <a:cs typeface="Consolas" pitchFamily="34" charset="-120"/>
              </a:rPr>
              <a:t>&gt;</a:t>
            </a:r>
            <a:endParaRPr lang="en-US" sz="1600" dirty="0"/>
          </a:p>
        </p:txBody>
      </p:sp>
      <p:sp>
        <p:nvSpPr>
          <p:cNvPr id="11" name="Text 9"/>
          <p:cNvSpPr/>
          <p:nvPr/>
        </p:nvSpPr>
        <p:spPr>
          <a:xfrm>
            <a:off x="6324448" y="6035040"/>
            <a:ext cx="5181448" cy="320040"/>
          </a:xfrm>
          <a:prstGeom prst="rect">
            <a:avLst/>
          </a:prstGeom>
          <a:noFill/>
          <a:ln/>
        </p:spPr>
        <p:txBody>
          <a:bodyPr wrap="square" rtlCol="0" anchor="ctr"/>
          <a:lstStyle/>
          <a:p>
            <a:pPr marL="0" indent="0">
              <a:buNone/>
            </a:pPr>
            <a:r>
              <a:rPr lang="en-US" sz="1100" i="1" dirty="0">
                <a:solidFill>
                  <a:srgbClr val="007FFF"/>
                </a:solidFill>
                <a:latin typeface="Segoe UI" pitchFamily="34" charset="0"/>
                <a:ea typeface="Segoe UI" pitchFamily="34" charset="-122"/>
                <a:cs typeface="Segoe UI" pitchFamily="34" charset="-120"/>
              </a:rPr>
              <a:t>1 import · 4 lines · accessible by default</a:t>
            </a:r>
            <a:endParaRPr lang="en-US" sz="1100" dirty="0"/>
          </a:p>
        </p:txBody>
      </p:sp>
      <p:sp>
        <p:nvSpPr>
          <p:cNvPr id="12" name="Text 10"/>
          <p:cNvSpPr/>
          <p:nvPr/>
        </p:nvSpPr>
        <p:spPr>
          <a:xfrm>
            <a:off x="10317175" y="6400800"/>
            <a:ext cx="1188720" cy="274320"/>
          </a:xfrm>
          <a:prstGeom prst="rect">
            <a:avLst/>
          </a:prstGeom>
          <a:noFill/>
          <a:ln/>
        </p:spPr>
        <p:txBody>
          <a:bodyPr wrap="square" rtlCol="0" anchor="ctr"/>
          <a:lstStyle/>
          <a:p>
            <a:pPr marL="0" indent="0" algn="r">
              <a:buNone/>
            </a:pPr>
            <a:r>
              <a:rPr lang="en-US" sz="1000" kern="0" spc="200" dirty="0">
                <a:solidFill>
                  <a:srgbClr val="6B7280"/>
                </a:solidFill>
                <a:latin typeface="Segoe UI" pitchFamily="34" charset="0"/>
                <a:ea typeface="Segoe UI" pitchFamily="34" charset="-122"/>
                <a:cs typeface="Segoe UI" pitchFamily="34" charset="-120"/>
              </a:rPr>
              <a:t>09 / 12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rtlCol="0" anchor="ctr"/>
          <a:lstStyle/>
          <a:p>
            <a:pPr marL="0" indent="0">
              <a:buNone/>
            </a:pPr>
            <a:r>
              <a:rPr lang="en-US" sz="1100" b="1" kern="0" spc="400" dirty="0">
                <a:solidFill>
                  <a:srgbClr val="007FFF"/>
                </a:solidFill>
                <a:latin typeface="Segoe UI" pitchFamily="34" charset="0"/>
                <a:ea typeface="Segoe UI" pitchFamily="34" charset="-122"/>
                <a:cs typeface="Segoe UI" pitchFamily="34" charset="-120"/>
              </a:rPr>
              <a:t>TRY IT</a:t>
            </a:r>
            <a:endParaRPr lang="en-US" sz="1100" dirty="0"/>
          </a:p>
        </p:txBody>
      </p:sp>
      <p:sp>
        <p:nvSpPr>
          <p:cNvPr id="3" name="Text 1">
            <a:hlinkClick r:id="rId3" tooltip="Open the demo"/>
          </p:cNvPr>
          <p:cNvSpPr/>
          <p:nvPr/>
        </p:nvSpPr>
        <p:spPr>
          <a:xfrm>
            <a:off x="685800" y="2148840"/>
            <a:ext cx="10820095" cy="2194560"/>
          </a:xfrm>
          <a:prstGeom prst="rect">
            <a:avLst/>
          </a:prstGeom>
          <a:noFill/>
          <a:ln/>
        </p:spPr>
        <p:txBody>
          <a:bodyPr wrap="square" rtlCol="0" anchor="ctr"/>
          <a:lstStyle/>
          <a:p>
            <a:pPr marL="0" indent="0" algn="ctr">
              <a:buNone/>
            </a:pPr>
            <a:r>
              <a:rPr lang="en-US" sz="9600" b="1" u="sng" dirty="0">
                <a:solidFill>
                  <a:srgbClr val="0A0A0A"/>
                </a:solidFill>
                <a:latin typeface="Segoe UI" pitchFamily="34" charset="0"/>
                <a:ea typeface="Segoe UI" pitchFamily="34" charset="-122"/>
                <a:cs typeface="Segoe UI" pitchFamily="34" charset="-120"/>
                <a:hlinkClick r:id="rId4" tooltip="Open the demo">
                  <a:extLst>
                    <a:ext uri="{A12FA001-AC4F-418D-AE19-62706E023703}">
                      <ahyp:hlinkClr xmlns:ahyp="http://schemas.microsoft.com/office/drawing/2018/hyperlinkcolor" val="tx"/>
                    </a:ext>
                  </a:extLst>
                </a:hlinkClick>
              </a:rPr>
              <a:t>See it live  →</a:t>
            </a:r>
            <a:endParaRPr lang="en-US" sz="9600" dirty="0"/>
          </a:p>
        </p:txBody>
      </p:sp>
      <p:sp>
        <p:nvSpPr>
          <p:cNvPr id="4" name="Shape 2"/>
          <p:cNvSpPr/>
          <p:nvPr/>
        </p:nvSpPr>
        <p:spPr>
          <a:xfrm>
            <a:off x="5867248" y="4480560"/>
            <a:ext cx="457200" cy="54864"/>
          </a:xfrm>
          <a:prstGeom prst="rect">
            <a:avLst/>
          </a:prstGeom>
          <a:solidFill>
            <a:srgbClr val="007FFF"/>
          </a:solidFill>
          <a:ln w="12700">
            <a:solidFill>
              <a:srgbClr val="007FFF"/>
            </a:solidFill>
            <a:prstDash val="solid"/>
          </a:ln>
        </p:spPr>
        <p:txBody>
          <a:bodyPr/>
          <a:lstStyle/>
          <a:p>
            <a:endParaRPr lang="th-TH"/>
          </a:p>
        </p:txBody>
      </p:sp>
      <p:sp>
        <p:nvSpPr>
          <p:cNvPr id="5" name="Text 3">
            <a:hlinkClick r:id="rId4" tooltip="Open the demo"/>
          </p:cNvPr>
          <p:cNvSpPr/>
          <p:nvPr/>
        </p:nvSpPr>
        <p:spPr>
          <a:xfrm>
            <a:off x="685800" y="4709160"/>
            <a:ext cx="10820095" cy="457200"/>
          </a:xfrm>
          <a:prstGeom prst="rect">
            <a:avLst/>
          </a:prstGeom>
          <a:noFill/>
          <a:ln/>
        </p:spPr>
        <p:txBody>
          <a:bodyPr wrap="square" rtlCol="0" anchor="ctr"/>
          <a:lstStyle/>
          <a:p>
            <a:pPr algn="ctr"/>
            <a:r>
              <a:rPr lang="en-US" sz="1600" u="sng" dirty="0">
                <a:solidFill>
                  <a:srgbClr val="007FFF"/>
                </a:solidFill>
                <a:latin typeface="Consolas" pitchFamily="34" charset="0"/>
                <a:ea typeface="Consolas" pitchFamily="34" charset="-122"/>
                <a:cs typeface="Consolas" pitchFamily="34" charset="-120"/>
              </a:rPr>
              <a:t>https://mui-showcase-production.up.railway.app/</a:t>
            </a:r>
            <a:endParaRPr lang="en-US" sz="1600" dirty="0"/>
          </a:p>
        </p:txBody>
      </p:sp>
      <p:sp>
        <p:nvSpPr>
          <p:cNvPr id="6" name="Text 4"/>
          <p:cNvSpPr/>
          <p:nvPr/>
        </p:nvSpPr>
        <p:spPr>
          <a:xfrm>
            <a:off x="10317175" y="6400800"/>
            <a:ext cx="1188720" cy="274320"/>
          </a:xfrm>
          <a:prstGeom prst="rect">
            <a:avLst/>
          </a:prstGeom>
          <a:noFill/>
          <a:ln/>
        </p:spPr>
        <p:txBody>
          <a:bodyPr wrap="square" rtlCol="0" anchor="ctr"/>
          <a:lstStyle/>
          <a:p>
            <a:pPr marL="0" indent="0" algn="r">
              <a:buNone/>
            </a:pPr>
            <a:r>
              <a:rPr lang="en-US" sz="1000" kern="0" spc="200" dirty="0">
                <a:solidFill>
                  <a:srgbClr val="6B7280"/>
                </a:solidFill>
                <a:latin typeface="Segoe UI" pitchFamily="34" charset="0"/>
                <a:ea typeface="Segoe UI" pitchFamily="34" charset="-122"/>
                <a:cs typeface="Segoe UI" pitchFamily="34" charset="-120"/>
              </a:rPr>
              <a:t>10 / 12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5867248" y="1965960"/>
            <a:ext cx="457200" cy="54864"/>
          </a:xfrm>
          <a:prstGeom prst="rect">
            <a:avLst/>
          </a:prstGeom>
          <a:solidFill>
            <a:srgbClr val="007FFF"/>
          </a:solidFill>
          <a:ln w="12700">
            <a:solidFill>
              <a:srgbClr val="007FFF"/>
            </a:solidFill>
            <a:prstDash val="solid"/>
          </a:ln>
        </p:spPr>
        <p:txBody>
          <a:bodyPr/>
          <a:lstStyle/>
          <a:p>
            <a:endParaRPr lang="th-TH"/>
          </a:p>
        </p:txBody>
      </p:sp>
      <p:sp>
        <p:nvSpPr>
          <p:cNvPr id="3" name="Text 1"/>
          <p:cNvSpPr/>
          <p:nvPr/>
        </p:nvSpPr>
        <p:spPr>
          <a:xfrm>
            <a:off x="685800" y="2514600"/>
            <a:ext cx="10820095" cy="1463040"/>
          </a:xfrm>
          <a:prstGeom prst="rect">
            <a:avLst/>
          </a:prstGeom>
          <a:noFill/>
          <a:ln/>
        </p:spPr>
        <p:txBody>
          <a:bodyPr wrap="square" rtlCol="0" anchor="ctr"/>
          <a:lstStyle/>
          <a:p>
            <a:pPr marL="0" indent="0" algn="ctr">
              <a:buNone/>
            </a:pPr>
            <a:r>
              <a:rPr lang="en-US" sz="8800" b="1" dirty="0">
                <a:solidFill>
                  <a:srgbClr val="0A0A0A"/>
                </a:solidFill>
                <a:latin typeface="Segoe UI" pitchFamily="34" charset="0"/>
                <a:ea typeface="Segoe UI" pitchFamily="34" charset="-122"/>
                <a:cs typeface="Segoe UI" pitchFamily="34" charset="-120"/>
              </a:rPr>
              <a:t>Questions?</a:t>
            </a:r>
            <a:endParaRPr lang="en-US" sz="8800" dirty="0"/>
          </a:p>
        </p:txBody>
      </p:sp>
      <p:sp>
        <p:nvSpPr>
          <p:cNvPr id="4" name="Text 2"/>
          <p:cNvSpPr/>
          <p:nvPr/>
        </p:nvSpPr>
        <p:spPr>
          <a:xfrm>
            <a:off x="685800" y="4251960"/>
            <a:ext cx="10820095" cy="457200"/>
          </a:xfrm>
          <a:prstGeom prst="rect">
            <a:avLst/>
          </a:prstGeom>
          <a:noFill/>
          <a:ln/>
        </p:spPr>
        <p:txBody>
          <a:bodyPr wrap="square" rtlCol="0" anchor="ctr"/>
          <a:lstStyle/>
          <a:p>
            <a:pPr marL="0" indent="0" algn="ctr">
              <a:buNone/>
            </a:pPr>
            <a:r>
              <a:rPr lang="en-US" sz="2000" dirty="0">
                <a:solidFill>
                  <a:srgbClr val="6B7280"/>
                </a:solidFill>
                <a:latin typeface="Segoe UI" pitchFamily="34" charset="0"/>
                <a:ea typeface="Segoe UI" pitchFamily="34" charset="-122"/>
                <a:cs typeface="Segoe UI" pitchFamily="34" charset="-120"/>
              </a:rPr>
              <a:t>Thanks for listening.</a:t>
            </a:r>
            <a:endParaRPr lang="en-US" sz="2000" dirty="0"/>
          </a:p>
        </p:txBody>
      </p:sp>
      <p:sp>
        <p:nvSpPr>
          <p:cNvPr id="5" name="Text 3"/>
          <p:cNvSpPr/>
          <p:nvPr/>
        </p:nvSpPr>
        <p:spPr>
          <a:xfrm>
            <a:off x="10317175" y="6400800"/>
            <a:ext cx="1188720" cy="274320"/>
          </a:xfrm>
          <a:prstGeom prst="rect">
            <a:avLst/>
          </a:prstGeom>
          <a:noFill/>
          <a:ln/>
        </p:spPr>
        <p:txBody>
          <a:bodyPr wrap="square" rtlCol="0" anchor="ctr"/>
          <a:lstStyle/>
          <a:p>
            <a:pPr marL="0" indent="0" algn="r">
              <a:buNone/>
            </a:pPr>
            <a:r>
              <a:rPr lang="en-US" sz="1000" kern="0" spc="200" dirty="0">
                <a:solidFill>
                  <a:srgbClr val="6B7280"/>
                </a:solidFill>
                <a:latin typeface="Segoe UI" pitchFamily="34" charset="0"/>
                <a:ea typeface="Segoe UI" pitchFamily="34" charset="-122"/>
                <a:cs typeface="Segoe UI" pitchFamily="34" charset="-120"/>
              </a:rPr>
              <a:t>11 / 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rtlCol="0" anchor="ctr"/>
          <a:lstStyle/>
          <a:p>
            <a:pPr marL="0" indent="0">
              <a:buNone/>
            </a:pPr>
            <a:r>
              <a:rPr lang="en-US" sz="1100" b="1" kern="0" spc="400" dirty="0">
                <a:solidFill>
                  <a:srgbClr val="007FFF"/>
                </a:solidFill>
                <a:latin typeface="Segoe UI" pitchFamily="34" charset="0"/>
                <a:ea typeface="Segoe UI" pitchFamily="34" charset="-122"/>
                <a:cs typeface="Segoe UI" pitchFamily="34" charset="-120"/>
              </a:rPr>
              <a:t>PRESENTED BY</a:t>
            </a:r>
            <a:endParaRPr lang="en-US" sz="1100" dirty="0"/>
          </a:p>
        </p:txBody>
      </p:sp>
      <p:sp>
        <p:nvSpPr>
          <p:cNvPr id="3" name="Text 1"/>
          <p:cNvSpPr/>
          <p:nvPr/>
        </p:nvSpPr>
        <p:spPr>
          <a:xfrm>
            <a:off x="685800" y="914400"/>
            <a:ext cx="10820095" cy="914400"/>
          </a:xfrm>
          <a:prstGeom prst="rect">
            <a:avLst/>
          </a:prstGeom>
          <a:noFill/>
          <a:ln/>
        </p:spPr>
        <p:txBody>
          <a:bodyPr wrap="square" rtlCol="0" anchor="ctr"/>
          <a:lstStyle/>
          <a:p>
            <a:pPr marL="0" indent="0">
              <a:buNone/>
            </a:pPr>
            <a:r>
              <a:rPr lang="en-US" sz="4400" b="1" dirty="0">
                <a:solidFill>
                  <a:srgbClr val="0A0A0A"/>
                </a:solidFill>
                <a:latin typeface="Segoe UI" pitchFamily="34" charset="0"/>
                <a:ea typeface="Segoe UI" pitchFamily="34" charset="-122"/>
                <a:cs typeface="Segoe UI" pitchFamily="34" charset="-120"/>
              </a:rPr>
              <a:t>Authors.</a:t>
            </a:r>
            <a:endParaRPr lang="en-US" sz="4400" dirty="0"/>
          </a:p>
        </p:txBody>
      </p:sp>
      <p:sp>
        <p:nvSpPr>
          <p:cNvPr id="4" name="Text 2"/>
          <p:cNvSpPr/>
          <p:nvPr/>
        </p:nvSpPr>
        <p:spPr>
          <a:xfrm>
            <a:off x="685800" y="3063240"/>
            <a:ext cx="10820095" cy="1005840"/>
          </a:xfrm>
          <a:prstGeom prst="rect">
            <a:avLst/>
          </a:prstGeom>
          <a:noFill/>
          <a:ln/>
        </p:spPr>
        <p:txBody>
          <a:bodyPr wrap="square" rtlCol="0" anchor="ctr"/>
          <a:lstStyle/>
          <a:p>
            <a:pPr marL="0" indent="0" algn="ctr">
              <a:buNone/>
            </a:pPr>
            <a:r>
              <a:rPr lang="en-US" sz="4400" b="1" dirty="0">
                <a:solidFill>
                  <a:srgbClr val="0A0A0A"/>
                </a:solidFill>
                <a:latin typeface="Segoe UI" pitchFamily="34" charset="0"/>
                <a:ea typeface="Segoe UI" pitchFamily="34" charset="-122"/>
                <a:cs typeface="Segoe UI" pitchFamily="34" charset="-120"/>
              </a:rPr>
              <a:t>Mr. Chetniphat Pokin</a:t>
            </a:r>
            <a:endParaRPr lang="en-US" sz="4400" dirty="0"/>
          </a:p>
        </p:txBody>
      </p:sp>
      <p:sp>
        <p:nvSpPr>
          <p:cNvPr id="5" name="Text 3"/>
          <p:cNvSpPr/>
          <p:nvPr/>
        </p:nvSpPr>
        <p:spPr>
          <a:xfrm>
            <a:off x="685800" y="4069080"/>
            <a:ext cx="10820095" cy="1005840"/>
          </a:xfrm>
          <a:prstGeom prst="rect">
            <a:avLst/>
          </a:prstGeom>
          <a:noFill/>
          <a:ln/>
        </p:spPr>
        <p:txBody>
          <a:bodyPr wrap="square" rtlCol="0" anchor="ctr"/>
          <a:lstStyle/>
          <a:p>
            <a:pPr marL="0" indent="0" algn="ctr">
              <a:buNone/>
            </a:pPr>
            <a:r>
              <a:rPr lang="en-US" sz="4400" b="1" dirty="0">
                <a:solidFill>
                  <a:srgbClr val="0A0A0A"/>
                </a:solidFill>
                <a:latin typeface="Segoe UI" pitchFamily="34" charset="0"/>
                <a:ea typeface="Segoe UI" pitchFamily="34" charset="-122"/>
                <a:cs typeface="Segoe UI" pitchFamily="34" charset="-120"/>
              </a:rPr>
              <a:t>Mr. Naphon Jangjit</a:t>
            </a:r>
            <a:endParaRPr lang="en-US" sz="4400" dirty="0"/>
          </a:p>
        </p:txBody>
      </p:sp>
      <p:sp>
        <p:nvSpPr>
          <p:cNvPr id="6" name="Shape 4"/>
          <p:cNvSpPr/>
          <p:nvPr/>
        </p:nvSpPr>
        <p:spPr>
          <a:xfrm>
            <a:off x="5867248" y="4041648"/>
            <a:ext cx="457200" cy="54864"/>
          </a:xfrm>
          <a:prstGeom prst="rect">
            <a:avLst/>
          </a:prstGeom>
          <a:solidFill>
            <a:srgbClr val="007FFF"/>
          </a:solidFill>
          <a:ln w="12700">
            <a:solidFill>
              <a:srgbClr val="007FFF"/>
            </a:solidFill>
            <a:prstDash val="solid"/>
          </a:ln>
        </p:spPr>
        <p:txBody>
          <a:bodyPr/>
          <a:lstStyle/>
          <a:p>
            <a:endParaRPr lang="th-TH"/>
          </a:p>
        </p:txBody>
      </p:sp>
      <p:sp>
        <p:nvSpPr>
          <p:cNvPr id="7" name="Text 5"/>
          <p:cNvSpPr/>
          <p:nvPr/>
        </p:nvSpPr>
        <p:spPr>
          <a:xfrm>
            <a:off x="685800" y="5760720"/>
            <a:ext cx="10820095" cy="365760"/>
          </a:xfrm>
          <a:prstGeom prst="rect">
            <a:avLst/>
          </a:prstGeom>
          <a:noFill/>
          <a:ln/>
        </p:spPr>
        <p:txBody>
          <a:bodyPr wrap="square" rtlCol="0" anchor="ctr"/>
          <a:lstStyle/>
          <a:p>
            <a:pPr marL="0" indent="0" algn="ctr">
              <a:buNone/>
            </a:pPr>
            <a:r>
              <a:rPr lang="en-US" sz="1200" kern="0" spc="400" dirty="0">
                <a:solidFill>
                  <a:srgbClr val="6B7280"/>
                </a:solidFill>
                <a:latin typeface="Segoe UI" pitchFamily="34" charset="0"/>
                <a:ea typeface="Segoe UI" pitchFamily="34" charset="-122"/>
                <a:cs typeface="Segoe UI" pitchFamily="34" charset="-120"/>
              </a:rPr>
              <a:t>Material UI · 2026</a:t>
            </a:r>
            <a:endParaRPr lang="en-US" sz="1200" dirty="0"/>
          </a:p>
        </p:txBody>
      </p:sp>
      <p:sp>
        <p:nvSpPr>
          <p:cNvPr id="8" name="Text 6"/>
          <p:cNvSpPr/>
          <p:nvPr/>
        </p:nvSpPr>
        <p:spPr>
          <a:xfrm>
            <a:off x="10317175" y="6400800"/>
            <a:ext cx="1188720" cy="274320"/>
          </a:xfrm>
          <a:prstGeom prst="rect">
            <a:avLst/>
          </a:prstGeom>
          <a:noFill/>
          <a:ln/>
        </p:spPr>
        <p:txBody>
          <a:bodyPr wrap="square" rtlCol="0" anchor="ctr"/>
          <a:lstStyle/>
          <a:p>
            <a:pPr marL="0" indent="0" algn="r">
              <a:buNone/>
            </a:pPr>
            <a:r>
              <a:rPr lang="en-US" sz="1000" kern="0" spc="200" dirty="0">
                <a:solidFill>
                  <a:srgbClr val="6B7280"/>
                </a:solidFill>
                <a:latin typeface="Segoe UI" pitchFamily="34" charset="0"/>
                <a:ea typeface="Segoe UI" pitchFamily="34" charset="-122"/>
                <a:cs typeface="Segoe UI" pitchFamily="34" charset="-120"/>
              </a:rPr>
              <a:t>12 / 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2202</Words>
  <Application>Microsoft Office PowerPoint</Application>
  <PresentationFormat>Widescreen</PresentationFormat>
  <Paragraphs>121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with Material UI (MUI)</dc:title>
  <dc:subject>MUI overview</dc:subject>
  <dc:creator>Mr. Chetniphat &amp; Mr.Naphon</dc:creator>
  <cp:lastModifiedBy>CHETNIPHAT POKIN</cp:lastModifiedBy>
  <cp:revision>2</cp:revision>
  <dcterms:created xsi:type="dcterms:W3CDTF">2026-05-04T19:14:32Z</dcterms:created>
  <dcterms:modified xsi:type="dcterms:W3CDTF">2026-05-04T19:54:24Z</dcterms:modified>
</cp:coreProperties>
</file>